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7"/>
  </p:notesMasterIdLst>
  <p:sldIdLst>
    <p:sldId id="256" r:id="rId2"/>
    <p:sldId id="260" r:id="rId3"/>
    <p:sldId id="261" r:id="rId4"/>
    <p:sldId id="262" r:id="rId5"/>
    <p:sldId id="295" r:id="rId6"/>
    <p:sldId id="272" r:id="rId7"/>
    <p:sldId id="298" r:id="rId8"/>
    <p:sldId id="299" r:id="rId9"/>
    <p:sldId id="296" r:id="rId10"/>
    <p:sldId id="300" r:id="rId11"/>
    <p:sldId id="297" r:id="rId12"/>
    <p:sldId id="301" r:id="rId13"/>
    <p:sldId id="281" r:id="rId14"/>
    <p:sldId id="283" r:id="rId15"/>
    <p:sldId id="280" r:id="rId16"/>
    <p:sldId id="282" r:id="rId17"/>
    <p:sldId id="271" r:id="rId18"/>
    <p:sldId id="292" r:id="rId19"/>
    <p:sldId id="284" r:id="rId20"/>
    <p:sldId id="293" r:id="rId21"/>
    <p:sldId id="287" r:id="rId22"/>
    <p:sldId id="285" r:id="rId23"/>
    <p:sldId id="286" r:id="rId24"/>
    <p:sldId id="288" r:id="rId25"/>
    <p:sldId id="289" r:id="rId26"/>
    <p:sldId id="291" r:id="rId27"/>
    <p:sldId id="294" r:id="rId28"/>
    <p:sldId id="264" r:id="rId29"/>
    <p:sldId id="278" r:id="rId30"/>
    <p:sldId id="279" r:id="rId31"/>
    <p:sldId id="259" r:id="rId32"/>
    <p:sldId id="269" r:id="rId33"/>
    <p:sldId id="273" r:id="rId34"/>
    <p:sldId id="266" r:id="rId35"/>
    <p:sldId id="267"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067BD4-4BF4-4165-BECF-F8A091C09607}" type="datetimeFigureOut">
              <a:rPr lang="en-US" smtClean="0"/>
              <a:pPr/>
              <a:t>10/28/2025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74B3DF-93A6-45FD-882A-D58D4AECD350}" type="slidenum">
              <a:rPr lang="en-US" smtClean="0"/>
              <a:pPr/>
              <a:t>‹#›</a:t>
            </a:fld>
            <a:endParaRPr lang="en-US"/>
          </a:p>
        </p:txBody>
      </p:sp>
    </p:spTree>
    <p:extLst>
      <p:ext uri="{BB962C8B-B14F-4D97-AF65-F5344CB8AC3E}">
        <p14:creationId xmlns:p14="http://schemas.microsoft.com/office/powerpoint/2010/main" val="2463031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51FE2E4C-DC25-4C6E-BB77-061113599144}" type="datetime1">
              <a:rPr lang="en-US" smtClean="0"/>
              <a:t>10/28/2025</a:t>
            </a:fld>
            <a:endParaRPr lang="en-US"/>
          </a:p>
        </p:txBody>
      </p:sp>
      <p:sp>
        <p:nvSpPr>
          <p:cNvPr id="17" name="Footer Placeholder 16"/>
          <p:cNvSpPr>
            <a:spLocks noGrp="1"/>
          </p:cNvSpPr>
          <p:nvPr>
            <p:ph type="ftr" sz="quarter" idx="11"/>
          </p:nvPr>
        </p:nvSpPr>
        <p:spPr>
          <a:xfrm>
            <a:off x="2898648" y="6355080"/>
            <a:ext cx="3474720" cy="365760"/>
          </a:xfrm>
        </p:spPr>
        <p:txBody>
          <a:bodyPr/>
          <a:lstStyle/>
          <a:p>
            <a:r>
              <a:rPr lang="en-US"/>
              <a:t>Project Batch Number #</a:t>
            </a:r>
          </a:p>
        </p:txBody>
      </p:sp>
      <p:sp>
        <p:nvSpPr>
          <p:cNvPr id="29" name="Slide Number Placeholder 28"/>
          <p:cNvSpPr>
            <a:spLocks noGrp="1"/>
          </p:cNvSpPr>
          <p:nvPr>
            <p:ph type="sldNum" sz="quarter" idx="12"/>
          </p:nvPr>
        </p:nvSpPr>
        <p:spPr>
          <a:xfrm>
            <a:off x="1216152" y="6355080"/>
            <a:ext cx="1219200" cy="365760"/>
          </a:xfrm>
        </p:spPr>
        <p:txBody>
          <a:bodyPr/>
          <a:lstStyle/>
          <a:p>
            <a:fld id="{E9F1805E-8ECD-4665-ACF6-E4B39ECC81D8}"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A215BD37-F52A-4EA5-B977-7C45B514F931}" type="datetime1">
              <a:rPr lang="en-US" smtClean="0"/>
              <a:t>10/28/2025</a:t>
            </a:fld>
            <a:endParaRPr lang="en-US"/>
          </a:p>
        </p:txBody>
      </p:sp>
      <p:sp>
        <p:nvSpPr>
          <p:cNvPr id="5" name="Footer Placeholder 4"/>
          <p:cNvSpPr>
            <a:spLocks noGrp="1"/>
          </p:cNvSpPr>
          <p:nvPr>
            <p:ph type="ftr" sz="quarter" idx="11"/>
          </p:nvPr>
        </p:nvSpPr>
        <p:spPr/>
        <p:txBody>
          <a:bodyPr/>
          <a:lstStyle/>
          <a:p>
            <a:r>
              <a:rPr lang="en-US"/>
              <a:t>Project Batch Number #</a:t>
            </a:r>
          </a:p>
        </p:txBody>
      </p:sp>
      <p:sp>
        <p:nvSpPr>
          <p:cNvPr id="6" name="Slide Number Placeholder 5"/>
          <p:cNvSpPr>
            <a:spLocks noGrp="1"/>
          </p:cNvSpPr>
          <p:nvPr>
            <p:ph type="sldNum" sz="quarter" idx="12"/>
          </p:nvPr>
        </p:nvSpPr>
        <p:spPr/>
        <p:txBody>
          <a:bodyPr/>
          <a:lstStyle/>
          <a:p>
            <a:fld id="{E9F1805E-8ECD-4665-ACF6-E4B39ECC81D8}"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25DF2A24-AE4B-4809-9EE6-03F12B90374C}" type="datetime1">
              <a:rPr lang="en-US" smtClean="0"/>
              <a:t>10/28/2025</a:t>
            </a:fld>
            <a:endParaRPr lang="en-US"/>
          </a:p>
        </p:txBody>
      </p:sp>
      <p:sp>
        <p:nvSpPr>
          <p:cNvPr id="5" name="Footer Placeholder 4"/>
          <p:cNvSpPr>
            <a:spLocks noGrp="1"/>
          </p:cNvSpPr>
          <p:nvPr>
            <p:ph type="ftr" sz="quarter" idx="11"/>
          </p:nvPr>
        </p:nvSpPr>
        <p:spPr>
          <a:xfrm>
            <a:off x="2898648" y="6355080"/>
            <a:ext cx="3474720" cy="365760"/>
          </a:xfrm>
        </p:spPr>
        <p:txBody>
          <a:bodyPr/>
          <a:lstStyle/>
          <a:p>
            <a:r>
              <a:rPr lang="en-US"/>
              <a:t>Project Batch Number #</a:t>
            </a:r>
          </a:p>
        </p:txBody>
      </p:sp>
      <p:sp>
        <p:nvSpPr>
          <p:cNvPr id="6" name="Slide Number Placeholder 5"/>
          <p:cNvSpPr>
            <a:spLocks noGrp="1"/>
          </p:cNvSpPr>
          <p:nvPr>
            <p:ph type="sldNum" sz="quarter" idx="12"/>
          </p:nvPr>
        </p:nvSpPr>
        <p:spPr>
          <a:xfrm>
            <a:off x="1069848" y="6355080"/>
            <a:ext cx="1520952" cy="365760"/>
          </a:xfrm>
        </p:spPr>
        <p:txBody>
          <a:bodyPr/>
          <a:lstStyle/>
          <a:p>
            <a:fld id="{E9F1805E-8ECD-4665-ACF6-E4B39ECC81D8}"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7AB7C42C-373B-468B-A013-83FDFDEC8267}" type="datetime1">
              <a:rPr lang="en-US" smtClean="0"/>
              <a:t>10/28/2025</a:t>
            </a:fld>
            <a:endParaRPr lang="en-US"/>
          </a:p>
        </p:txBody>
      </p:sp>
      <p:sp>
        <p:nvSpPr>
          <p:cNvPr id="6" name="Footer Placeholder 5"/>
          <p:cNvSpPr>
            <a:spLocks noGrp="1"/>
          </p:cNvSpPr>
          <p:nvPr>
            <p:ph type="ftr" sz="quarter" idx="11"/>
          </p:nvPr>
        </p:nvSpPr>
        <p:spPr/>
        <p:txBody>
          <a:bodyPr/>
          <a:lstStyle/>
          <a:p>
            <a:r>
              <a:rPr lang="en-US"/>
              <a:t>Project Batch Number #</a:t>
            </a:r>
          </a:p>
        </p:txBody>
      </p:sp>
      <p:sp>
        <p:nvSpPr>
          <p:cNvPr id="7" name="Slide Number Placeholder 6"/>
          <p:cNvSpPr>
            <a:spLocks noGrp="1"/>
          </p:cNvSpPr>
          <p:nvPr>
            <p:ph type="sldNum" sz="quarter" idx="12"/>
          </p:nvPr>
        </p:nvSpPr>
        <p:spPr/>
        <p:txBody>
          <a:bodyPr/>
          <a:lstStyle/>
          <a:p>
            <a:fld id="{E9F1805E-8ECD-4665-ACF6-E4B39ECC81D8}"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75F5D1-B5C1-42FA-B0A9-4A3C0A8924AF}" type="datetime1">
              <a:rPr lang="en-US" smtClean="0"/>
              <a:t>10/28/2025</a:t>
            </a:fld>
            <a:endParaRPr lang="en-US"/>
          </a:p>
        </p:txBody>
      </p:sp>
      <p:sp>
        <p:nvSpPr>
          <p:cNvPr id="8" name="Footer Placeholder 7"/>
          <p:cNvSpPr>
            <a:spLocks noGrp="1"/>
          </p:cNvSpPr>
          <p:nvPr>
            <p:ph type="ftr" sz="quarter" idx="11"/>
          </p:nvPr>
        </p:nvSpPr>
        <p:spPr/>
        <p:txBody>
          <a:bodyPr/>
          <a:lstStyle/>
          <a:p>
            <a:r>
              <a:rPr lang="en-US"/>
              <a:t>Project Batch Number #</a:t>
            </a:r>
          </a:p>
        </p:txBody>
      </p:sp>
      <p:sp>
        <p:nvSpPr>
          <p:cNvPr id="9" name="Slide Number Placeholder 8"/>
          <p:cNvSpPr>
            <a:spLocks noGrp="1"/>
          </p:cNvSpPr>
          <p:nvPr>
            <p:ph type="sldNum" sz="quarter" idx="12"/>
          </p:nvPr>
        </p:nvSpPr>
        <p:spPr/>
        <p:txBody>
          <a:bodyPr/>
          <a:lstStyle/>
          <a:p>
            <a:fld id="{E9F1805E-8ECD-4665-ACF6-E4B39ECC81D8}"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C474F81-D897-48EC-887F-E196BB205F0F}" type="datetime1">
              <a:rPr lang="en-US" smtClean="0"/>
              <a:t>10/28/2025</a:t>
            </a:fld>
            <a:endParaRPr lang="en-US"/>
          </a:p>
        </p:txBody>
      </p:sp>
      <p:sp>
        <p:nvSpPr>
          <p:cNvPr id="4" name="Footer Placeholder 3"/>
          <p:cNvSpPr>
            <a:spLocks noGrp="1"/>
          </p:cNvSpPr>
          <p:nvPr>
            <p:ph type="ftr" sz="quarter" idx="11"/>
          </p:nvPr>
        </p:nvSpPr>
        <p:spPr/>
        <p:txBody>
          <a:bodyPr/>
          <a:lstStyle/>
          <a:p>
            <a:r>
              <a:rPr lang="en-US"/>
              <a:t>Project Batch Number #</a:t>
            </a:r>
          </a:p>
        </p:txBody>
      </p:sp>
      <p:sp>
        <p:nvSpPr>
          <p:cNvPr id="5" name="Slide Number Placeholder 4"/>
          <p:cNvSpPr>
            <a:spLocks noGrp="1"/>
          </p:cNvSpPr>
          <p:nvPr>
            <p:ph type="sldNum" sz="quarter" idx="12"/>
          </p:nvPr>
        </p:nvSpPr>
        <p:spPr/>
        <p:txBody>
          <a:bodyPr/>
          <a:lstStyle/>
          <a:p>
            <a:fld id="{E9F1805E-8ECD-4665-ACF6-E4B39ECC81D8}"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F8596E-0604-4723-B0D0-EC4DA9228550}" type="datetime1">
              <a:rPr lang="en-US" smtClean="0"/>
              <a:t>10/28/2025</a:t>
            </a:fld>
            <a:endParaRPr lang="en-US"/>
          </a:p>
        </p:txBody>
      </p:sp>
      <p:sp>
        <p:nvSpPr>
          <p:cNvPr id="3" name="Footer Placeholder 2"/>
          <p:cNvSpPr>
            <a:spLocks noGrp="1"/>
          </p:cNvSpPr>
          <p:nvPr>
            <p:ph type="ftr" sz="quarter" idx="11"/>
          </p:nvPr>
        </p:nvSpPr>
        <p:spPr/>
        <p:txBody>
          <a:bodyPr/>
          <a:lstStyle/>
          <a:p>
            <a:r>
              <a:rPr lang="en-US"/>
              <a:t>Project Batch Number #</a:t>
            </a:r>
          </a:p>
        </p:txBody>
      </p:sp>
      <p:sp>
        <p:nvSpPr>
          <p:cNvPr id="4" name="Slide Number Placeholder 3"/>
          <p:cNvSpPr>
            <a:spLocks noGrp="1"/>
          </p:cNvSpPr>
          <p:nvPr>
            <p:ph type="sldNum" sz="quarter" idx="12"/>
          </p:nvPr>
        </p:nvSpPr>
        <p:spPr/>
        <p:txBody>
          <a:bodyPr/>
          <a:lstStyle/>
          <a:p>
            <a:fld id="{E9F1805E-8ECD-4665-ACF6-E4B39ECC81D8}"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F9352A9-9105-4448-9042-DC8DB4E90FC6}" type="datetime1">
              <a:rPr lang="en-US" smtClean="0"/>
              <a:t>10/28/2025</a:t>
            </a:fld>
            <a:endParaRPr lang="en-US"/>
          </a:p>
        </p:txBody>
      </p:sp>
      <p:sp>
        <p:nvSpPr>
          <p:cNvPr id="6" name="Footer Placeholder 5"/>
          <p:cNvSpPr>
            <a:spLocks noGrp="1"/>
          </p:cNvSpPr>
          <p:nvPr>
            <p:ph type="ftr" sz="quarter" idx="11"/>
          </p:nvPr>
        </p:nvSpPr>
        <p:spPr/>
        <p:txBody>
          <a:bodyPr/>
          <a:lstStyle/>
          <a:p>
            <a:r>
              <a:rPr lang="en-US"/>
              <a:t>Project Batch Number #</a:t>
            </a:r>
          </a:p>
        </p:txBody>
      </p:sp>
      <p:sp>
        <p:nvSpPr>
          <p:cNvPr id="7" name="Slide Number Placeholder 6"/>
          <p:cNvSpPr>
            <a:spLocks noGrp="1"/>
          </p:cNvSpPr>
          <p:nvPr>
            <p:ph type="sldNum" sz="quarter" idx="12"/>
          </p:nvPr>
        </p:nvSpPr>
        <p:spPr/>
        <p:txBody>
          <a:bodyPr/>
          <a:lstStyle/>
          <a:p>
            <a:fld id="{E9F1805E-8ECD-4665-ACF6-E4B39ECC81D8}"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D9854F95-A5BB-4D13-A7DF-0ABB9DFDD3AA}" type="datetime1">
              <a:rPr lang="en-US" smtClean="0"/>
              <a:t>10/28/2025</a:t>
            </a:fld>
            <a:endParaRPr lang="en-US"/>
          </a:p>
        </p:txBody>
      </p:sp>
      <p:sp>
        <p:nvSpPr>
          <p:cNvPr id="6" name="Footer Placeholder 5"/>
          <p:cNvSpPr>
            <a:spLocks noGrp="1"/>
          </p:cNvSpPr>
          <p:nvPr>
            <p:ph type="ftr" sz="quarter" idx="11"/>
          </p:nvPr>
        </p:nvSpPr>
        <p:spPr/>
        <p:txBody>
          <a:bodyPr/>
          <a:lstStyle/>
          <a:p>
            <a:r>
              <a:rPr lang="en-US"/>
              <a:t>Project Batch Number #</a:t>
            </a:r>
          </a:p>
        </p:txBody>
      </p:sp>
      <p:sp>
        <p:nvSpPr>
          <p:cNvPr id="7" name="Slide Number Placeholder 6"/>
          <p:cNvSpPr>
            <a:spLocks noGrp="1"/>
          </p:cNvSpPr>
          <p:nvPr>
            <p:ph type="sldNum" sz="quarter" idx="12"/>
          </p:nvPr>
        </p:nvSpPr>
        <p:spPr/>
        <p:txBody>
          <a:bodyPr/>
          <a:lstStyle/>
          <a:p>
            <a:fld id="{E9F1805E-8ECD-4665-ACF6-E4B39ECC81D8}"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54B8065-23B6-4949-ABB9-3AC54A87835E}" type="datetime1">
              <a:rPr lang="en-US" smtClean="0"/>
              <a:t>10/28/2025</a:t>
            </a:fld>
            <a:endParaRPr lang="en-US"/>
          </a:p>
        </p:txBody>
      </p:sp>
      <p:sp>
        <p:nvSpPr>
          <p:cNvPr id="5" name="Footer Placeholder 4"/>
          <p:cNvSpPr>
            <a:spLocks noGrp="1"/>
          </p:cNvSpPr>
          <p:nvPr>
            <p:ph type="ftr" sz="quarter" idx="11"/>
          </p:nvPr>
        </p:nvSpPr>
        <p:spPr/>
        <p:txBody>
          <a:bodyPr/>
          <a:lstStyle/>
          <a:p>
            <a:r>
              <a:rPr lang="en-US"/>
              <a:t>Project Batch Number #</a:t>
            </a:r>
          </a:p>
        </p:txBody>
      </p:sp>
      <p:sp>
        <p:nvSpPr>
          <p:cNvPr id="6" name="Slide Number Placeholder 5"/>
          <p:cNvSpPr>
            <a:spLocks noGrp="1"/>
          </p:cNvSpPr>
          <p:nvPr>
            <p:ph type="sldNum" sz="quarter" idx="12"/>
          </p:nvPr>
        </p:nvSpPr>
        <p:spPr/>
        <p:txBody>
          <a:bodyPr/>
          <a:lstStyle/>
          <a:p>
            <a:fld id="{E9F1805E-8ECD-4665-ACF6-E4B39ECC81D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50EC383-66FC-4371-8A2C-9401EAB4CE1B}" type="datetime1">
              <a:rPr lang="en-US" smtClean="0"/>
              <a:t>10/28/2025</a:t>
            </a:fld>
            <a:endParaRPr lang="en-US"/>
          </a:p>
        </p:txBody>
      </p:sp>
      <p:sp>
        <p:nvSpPr>
          <p:cNvPr id="5" name="Footer Placeholder 4"/>
          <p:cNvSpPr>
            <a:spLocks noGrp="1"/>
          </p:cNvSpPr>
          <p:nvPr>
            <p:ph type="ftr" sz="quarter" idx="11"/>
          </p:nvPr>
        </p:nvSpPr>
        <p:spPr/>
        <p:txBody>
          <a:bodyPr/>
          <a:lstStyle/>
          <a:p>
            <a:r>
              <a:rPr lang="en-US"/>
              <a:t>Project Batch Number #</a:t>
            </a:r>
          </a:p>
        </p:txBody>
      </p:sp>
      <p:sp>
        <p:nvSpPr>
          <p:cNvPr id="6" name="Slide Number Placeholder 5"/>
          <p:cNvSpPr>
            <a:spLocks noGrp="1"/>
          </p:cNvSpPr>
          <p:nvPr>
            <p:ph type="sldNum" sz="quarter" idx="12"/>
          </p:nvPr>
        </p:nvSpPr>
        <p:spPr/>
        <p:txBody>
          <a:bodyPr/>
          <a:lstStyle/>
          <a:p>
            <a:fld id="{E9F1805E-8ECD-4665-ACF6-E4B39ECC81D8}"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493A4DF2-7514-4727-BA82-8F070FF39AB2}" type="datetime1">
              <a:rPr lang="en-US" smtClean="0"/>
              <a:t>10/28/2025</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a:t>Project Batch Number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E9F1805E-8ECD-4665-ACF6-E4B39ECC81D8}"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3581400"/>
            <a:ext cx="6858000" cy="990600"/>
          </a:xfrm>
        </p:spPr>
        <p:txBody>
          <a:bodyPr>
            <a:normAutofit fontScale="90000"/>
          </a:bodyPr>
          <a:lstStyle/>
          <a:p>
            <a:r>
              <a:rPr lang="en-US" b="1" dirty="0">
                <a:solidFill>
                  <a:schemeClr val="accent3">
                    <a:lumMod val="50000"/>
                  </a:schemeClr>
                </a:solidFill>
              </a:rPr>
              <a:t>IoT Based Infrastructure for Remote Sensing and Motor Automation</a:t>
            </a:r>
            <a:endParaRPr lang="en-US" dirty="0"/>
          </a:p>
        </p:txBody>
      </p:sp>
      <p:sp>
        <p:nvSpPr>
          <p:cNvPr id="3" name="Subtitle 2"/>
          <p:cNvSpPr>
            <a:spLocks noGrp="1"/>
          </p:cNvSpPr>
          <p:nvPr>
            <p:ph type="subTitle" idx="1"/>
          </p:nvPr>
        </p:nvSpPr>
        <p:spPr>
          <a:xfrm>
            <a:off x="1219200" y="5124450"/>
            <a:ext cx="7010400" cy="590550"/>
          </a:xfrm>
        </p:spPr>
        <p:txBody>
          <a:bodyPr>
            <a:normAutofit fontScale="55000" lnSpcReduction="20000"/>
          </a:bodyPr>
          <a:lstStyle/>
          <a:p>
            <a:pPr algn="l"/>
            <a:r>
              <a:rPr lang="en-US" b="1" dirty="0">
                <a:solidFill>
                  <a:schemeClr val="bg2">
                    <a:lumMod val="50000"/>
                  </a:schemeClr>
                </a:solidFill>
                <a:latin typeface="Times New Roman" panose="02020603050405020304" pitchFamily="18" charset="0"/>
                <a:cs typeface="Times New Roman" panose="02020603050405020304" pitchFamily="18" charset="0"/>
              </a:rPr>
              <a:t>Students Name- KARTHEESAN K (22BEE1011), NAKUL S (22BEE1246), PRADEESH R (22BEE1268</a:t>
            </a:r>
            <a:r>
              <a:rPr lang="en-US" dirty="0">
                <a:solidFill>
                  <a:schemeClr val="bg2">
                    <a:lumMod val="50000"/>
                  </a:schemeClr>
                </a:solidFill>
                <a:latin typeface="Times New Roman" panose="02020603050405020304" pitchFamily="18" charset="0"/>
                <a:cs typeface="Times New Roman" panose="02020603050405020304" pitchFamily="18" charset="0"/>
              </a:rPr>
              <a:t>) </a:t>
            </a:r>
          </a:p>
          <a:p>
            <a:pPr algn="l"/>
            <a:r>
              <a:rPr lang="en-US" b="1" dirty="0">
                <a:solidFill>
                  <a:schemeClr val="bg2">
                    <a:lumMod val="50000"/>
                  </a:schemeClr>
                </a:solidFill>
                <a:latin typeface="Times New Roman" panose="02020603050405020304" pitchFamily="18" charset="0"/>
                <a:cs typeface="Times New Roman" panose="02020603050405020304" pitchFamily="18" charset="0"/>
              </a:rPr>
              <a:t>Guide Name- Dr. JAMUNA K</a:t>
            </a:r>
          </a:p>
        </p:txBody>
      </p:sp>
      <p:pic>
        <p:nvPicPr>
          <p:cNvPr id="4" name="Picture 3">
            <a:extLst>
              <a:ext uri="{FF2B5EF4-FFF2-40B4-BE49-F238E27FC236}">
                <a16:creationId xmlns="" xmlns:a16="http://schemas.microsoft.com/office/drawing/2014/main" id="{572B6BE6-DBA9-AA2F-07B4-2C35D89C5602}"/>
              </a:ext>
            </a:extLst>
          </p:cNvPr>
          <p:cNvPicPr>
            <a:picLocks noChangeAspect="1"/>
          </p:cNvPicPr>
          <p:nvPr/>
        </p:nvPicPr>
        <p:blipFill>
          <a:blip r:embed="rId2"/>
          <a:stretch>
            <a:fillRect/>
          </a:stretch>
        </p:blipFill>
        <p:spPr>
          <a:xfrm>
            <a:off x="2276475" y="533400"/>
            <a:ext cx="4743450" cy="15811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p>
        </p:txBody>
      </p:sp>
      <p:sp>
        <p:nvSpPr>
          <p:cNvPr id="4" name="Slide Number Placeholder 3"/>
          <p:cNvSpPr>
            <a:spLocks noGrp="1"/>
          </p:cNvSpPr>
          <p:nvPr>
            <p:ph type="sldNum" sz="quarter" idx="12"/>
          </p:nvPr>
        </p:nvSpPr>
        <p:spPr/>
        <p:txBody>
          <a:bodyPr/>
          <a:lstStyle/>
          <a:p>
            <a:fld id="{E9F1805E-8ECD-4665-ACF6-E4B39ECC81D8}" type="slidenum">
              <a:rPr lang="en-US" smtClean="0"/>
              <a:pPr/>
              <a:t>2</a:t>
            </a:fld>
            <a:endParaRPr lang="en-US"/>
          </a:p>
        </p:txBody>
      </p:sp>
      <p:sp>
        <p:nvSpPr>
          <p:cNvPr id="5" name="Content Placeholder 4"/>
          <p:cNvSpPr>
            <a:spLocks noGrp="1"/>
          </p:cNvSpPr>
          <p:nvPr>
            <p:ph sz="quarter" idx="1"/>
          </p:nvPr>
        </p:nvSpPr>
        <p:spPr/>
        <p:txBody>
          <a:bodyPr>
            <a:normAutofit/>
          </a:bodyPr>
          <a:lstStyle/>
          <a:p>
            <a:r>
              <a:rPr lang="en-US" sz="1800" dirty="0">
                <a:latin typeface="Times New Roman" panose="02020603050405020304" pitchFamily="18" charset="0"/>
                <a:cs typeface="Times New Roman" panose="02020603050405020304" pitchFamily="18" charset="0"/>
              </a:rPr>
              <a:t>Objectives</a:t>
            </a:r>
          </a:p>
          <a:p>
            <a:r>
              <a:rPr lang="en-US" sz="1800" dirty="0">
                <a:latin typeface="Times New Roman" panose="02020603050405020304" pitchFamily="18" charset="0"/>
                <a:cs typeface="Times New Roman" panose="02020603050405020304" pitchFamily="18" charset="0"/>
              </a:rPr>
              <a:t>Project Overview</a:t>
            </a:r>
          </a:p>
          <a:p>
            <a:r>
              <a:rPr lang="en-US" sz="1800" dirty="0">
                <a:latin typeface="Times New Roman" panose="02020603050405020304" pitchFamily="18" charset="0"/>
                <a:cs typeface="Times New Roman" panose="02020603050405020304" pitchFamily="18" charset="0"/>
              </a:rPr>
              <a:t>Block Diagram</a:t>
            </a:r>
          </a:p>
          <a:p>
            <a:r>
              <a:rPr lang="en-US" sz="1800" dirty="0">
                <a:latin typeface="Times New Roman" panose="02020603050405020304" pitchFamily="18" charset="0"/>
                <a:cs typeface="Times New Roman" panose="02020603050405020304" pitchFamily="18" charset="0"/>
              </a:rPr>
              <a:t>Circuit Diagram</a:t>
            </a:r>
          </a:p>
          <a:p>
            <a:r>
              <a:rPr lang="en-US" sz="1800" dirty="0">
                <a:latin typeface="Times New Roman" panose="02020603050405020304" pitchFamily="18" charset="0"/>
                <a:cs typeface="Times New Roman" panose="02020603050405020304" pitchFamily="18" charset="0"/>
              </a:rPr>
              <a:t>Design Specifications</a:t>
            </a:r>
          </a:p>
          <a:p>
            <a:r>
              <a:rPr lang="en-US" sz="1800" dirty="0">
                <a:latin typeface="Times New Roman" panose="02020603050405020304" pitchFamily="18" charset="0"/>
                <a:cs typeface="Times New Roman" panose="02020603050405020304" pitchFamily="18" charset="0"/>
              </a:rPr>
              <a:t>Analytical Calculations</a:t>
            </a:r>
          </a:p>
          <a:p>
            <a:r>
              <a:rPr lang="en-US" sz="1800" dirty="0">
                <a:latin typeface="Times New Roman" panose="02020603050405020304" pitchFamily="18" charset="0"/>
                <a:cs typeface="Times New Roman" panose="02020603050405020304" pitchFamily="18" charset="0"/>
              </a:rPr>
              <a:t>Simulation</a:t>
            </a:r>
          </a:p>
          <a:p>
            <a:r>
              <a:rPr lang="en-US" sz="1800" dirty="0">
                <a:latin typeface="Times New Roman" panose="02020603050405020304" pitchFamily="18" charset="0"/>
                <a:cs typeface="Times New Roman" panose="02020603050405020304" pitchFamily="18" charset="0"/>
              </a:rPr>
              <a:t>Conclusion</a:t>
            </a:r>
          </a:p>
          <a:p>
            <a:r>
              <a:rPr lang="en-US" sz="1800" dirty="0">
                <a:latin typeface="Times New Roman" panose="02020603050405020304" pitchFamily="18" charset="0"/>
                <a:cs typeface="Times New Roman" panose="02020603050405020304" pitchFamily="18" charset="0"/>
              </a:rPr>
              <a:t>References</a:t>
            </a:r>
          </a:p>
        </p:txBody>
      </p:sp>
      <p:sp>
        <p:nvSpPr>
          <p:cNvPr id="6" name="Footer Placeholder 2">
            <a:extLst>
              <a:ext uri="{FF2B5EF4-FFF2-40B4-BE49-F238E27FC236}">
                <a16:creationId xmlns="" xmlns:a16="http://schemas.microsoft.com/office/drawing/2014/main" id="{48E749DD-AA59-4FA7-DF71-D1C54FB58DE1}"/>
              </a:ext>
            </a:extLst>
          </p:cNvPr>
          <p:cNvSpPr>
            <a:spLocks noGrp="1"/>
          </p:cNvSpPr>
          <p:nvPr>
            <p:ph type="ftr" sz="quarter" idx="11"/>
          </p:nvPr>
        </p:nvSpPr>
        <p:spPr>
          <a:xfrm>
            <a:off x="5173133" y="6363335"/>
            <a:ext cx="3505200" cy="365125"/>
          </a:xfrm>
        </p:spPr>
        <p:txBody>
          <a:bodyPr/>
          <a:lstStyle/>
          <a:p>
            <a:r>
              <a:rPr lang="en-US" dirty="0"/>
              <a:t>Project Batch Number- 22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4" name="Slide Number Placeholder 3"/>
          <p:cNvSpPr>
            <a:spLocks noGrp="1"/>
          </p:cNvSpPr>
          <p:nvPr>
            <p:ph type="sldNum" sz="quarter" idx="12"/>
          </p:nvPr>
        </p:nvSpPr>
        <p:spPr/>
        <p:txBody>
          <a:bodyPr/>
          <a:lstStyle/>
          <a:p>
            <a:fld id="{E9F1805E-8ECD-4665-ACF6-E4B39ECC81D8}" type="slidenum">
              <a:rPr lang="en-US" smtClean="0"/>
              <a:pPr/>
              <a:t>3</a:t>
            </a:fld>
            <a:endParaRPr lang="en-US"/>
          </a:p>
        </p:txBody>
      </p:sp>
      <p:sp>
        <p:nvSpPr>
          <p:cNvPr id="5" name="Content Placeholder 4"/>
          <p:cNvSpPr>
            <a:spLocks noGrp="1"/>
          </p:cNvSpPr>
          <p:nvPr>
            <p:ph sz="quarter"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To develop a </a:t>
            </a:r>
            <a:r>
              <a:rPr lang="en-US" sz="1800" b="1" dirty="0">
                <a:latin typeface="Times New Roman" panose="02020603050405020304" pitchFamily="18" charset="0"/>
                <a:cs typeface="Times New Roman" panose="02020603050405020304" pitchFamily="18" charset="0"/>
              </a:rPr>
              <a:t>predictive maintenance model</a:t>
            </a:r>
            <a:r>
              <a:rPr lang="en-US" sz="1800" dirty="0">
                <a:latin typeface="Times New Roman" panose="02020603050405020304" pitchFamily="18" charset="0"/>
                <a:cs typeface="Times New Roman" panose="02020603050405020304" pitchFamily="18" charset="0"/>
              </a:rPr>
              <a:t> capable of identifying potential motor faults through machine learning algorithms using </a:t>
            </a:r>
            <a:r>
              <a:rPr lang="en-US" sz="1800" b="1" dirty="0">
                <a:latin typeface="Times New Roman" panose="02020603050405020304" pitchFamily="18" charset="0"/>
                <a:cs typeface="Times New Roman" panose="02020603050405020304" pitchFamily="18" charset="0"/>
              </a:rPr>
              <a:t>Random Forest Regression</a:t>
            </a:r>
            <a:r>
              <a:rPr lang="en-US" sz="1800" dirty="0">
                <a:latin typeface="Times New Roman" panose="02020603050405020304" pitchFamily="18" charset="0"/>
                <a:cs typeface="Times New Roman" panose="02020603050405020304" pitchFamily="18" charset="0"/>
              </a:rPr>
              <a:t>.</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To design a </a:t>
            </a:r>
            <a:r>
              <a:rPr lang="en-US" sz="1800" b="1" dirty="0">
                <a:latin typeface="Times New Roman" panose="02020603050405020304" pitchFamily="18" charset="0"/>
                <a:cs typeface="Times New Roman" panose="02020603050405020304" pitchFamily="18" charset="0"/>
              </a:rPr>
              <a:t>cloud-based communication framework</a:t>
            </a:r>
            <a:r>
              <a:rPr lang="en-US" sz="1800" dirty="0">
                <a:latin typeface="Times New Roman" panose="02020603050405020304" pitchFamily="18" charset="0"/>
                <a:cs typeface="Times New Roman" panose="02020603050405020304" pitchFamily="18" charset="0"/>
              </a:rPr>
              <a:t> that enables remote speed control of a three-phase induction motor between two different geographical locations using the </a:t>
            </a:r>
            <a:r>
              <a:rPr lang="en-US" sz="1800" b="1" dirty="0">
                <a:latin typeface="Times New Roman" panose="02020603050405020304" pitchFamily="18" charset="0"/>
                <a:cs typeface="Times New Roman" panose="02020603050405020304" pitchFamily="18" charset="0"/>
              </a:rPr>
              <a:t>Google Firebase platform</a:t>
            </a:r>
            <a:r>
              <a:rPr lang="en-US" sz="1800" dirty="0">
                <a:latin typeface="Times New Roman" panose="02020603050405020304" pitchFamily="18" charset="0"/>
                <a:cs typeface="Times New Roman" panose="02020603050405020304" pitchFamily="18" charset="0"/>
              </a:rPr>
              <a:t>.</a:t>
            </a:r>
          </a:p>
          <a:p>
            <a:pPr algn="just"/>
            <a:endParaRPr lang="en-US" sz="1800" dirty="0">
              <a:latin typeface="Times New Roman" panose="02020603050405020304" pitchFamily="18" charset="0"/>
              <a:cs typeface="Times New Roman" panose="02020603050405020304" pitchFamily="18" charset="0"/>
            </a:endParaRPr>
          </a:p>
        </p:txBody>
      </p:sp>
      <p:sp>
        <p:nvSpPr>
          <p:cNvPr id="7" name="Footer Placeholder 2">
            <a:extLst>
              <a:ext uri="{FF2B5EF4-FFF2-40B4-BE49-F238E27FC236}">
                <a16:creationId xmlns="" xmlns:a16="http://schemas.microsoft.com/office/drawing/2014/main" id="{C3095A87-54D6-0BFB-EE03-375273A42CA9}"/>
              </a:ext>
            </a:extLst>
          </p:cNvPr>
          <p:cNvSpPr>
            <a:spLocks noGrp="1"/>
          </p:cNvSpPr>
          <p:nvPr>
            <p:ph type="ftr" sz="quarter" idx="11"/>
          </p:nvPr>
        </p:nvSpPr>
        <p:spPr>
          <a:xfrm>
            <a:off x="5334000" y="6371802"/>
            <a:ext cx="3505200" cy="365125"/>
          </a:xfrm>
        </p:spPr>
        <p:txBody>
          <a:bodyPr/>
          <a:lstStyle/>
          <a:p>
            <a:r>
              <a:rPr lang="en-US" dirty="0"/>
              <a:t>Project Batch Number- 22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Overview</a:t>
            </a:r>
          </a:p>
        </p:txBody>
      </p:sp>
      <p:sp>
        <p:nvSpPr>
          <p:cNvPr id="4" name="Slide Number Placeholder 3"/>
          <p:cNvSpPr>
            <a:spLocks noGrp="1"/>
          </p:cNvSpPr>
          <p:nvPr>
            <p:ph type="sldNum" sz="quarter" idx="12"/>
          </p:nvPr>
        </p:nvSpPr>
        <p:spPr/>
        <p:txBody>
          <a:bodyPr/>
          <a:lstStyle/>
          <a:p>
            <a:fld id="{E9F1805E-8ECD-4665-ACF6-E4B39ECC81D8}" type="slidenum">
              <a:rPr lang="en-US" smtClean="0"/>
              <a:pPr/>
              <a:t>4</a:t>
            </a:fld>
            <a:endParaRPr lang="en-US"/>
          </a:p>
        </p:txBody>
      </p:sp>
      <p:sp>
        <p:nvSpPr>
          <p:cNvPr id="5" name="Content Placeholder 4"/>
          <p:cNvSpPr>
            <a:spLocks noGrp="1"/>
          </p:cNvSpPr>
          <p:nvPr>
            <p:ph sz="quarter" idx="1"/>
          </p:nvPr>
        </p:nvSpPr>
        <p:spPr>
          <a:xfrm>
            <a:off x="457200" y="1219200"/>
            <a:ext cx="8229600" cy="4724400"/>
          </a:xfrm>
        </p:spPr>
        <p:txBody>
          <a:bodyPr>
            <a:normAutofit/>
          </a:bodyPr>
          <a:lstStyle/>
          <a:p>
            <a:pPr marL="0" indent="0" algn="just">
              <a:buNone/>
            </a:pPr>
            <a:r>
              <a:rPr lang="en-US" sz="1800" b="1" dirty="0">
                <a:latin typeface="Times New Roman" panose="02020603050405020304" pitchFamily="18" charset="0"/>
                <a:cs typeface="Times New Roman" panose="02020603050405020304" pitchFamily="18" charset="0"/>
              </a:rPr>
              <a:t>Objective 1: </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project implements </a:t>
            </a:r>
            <a:r>
              <a:rPr lang="en-US" sz="1800" b="1" dirty="0">
                <a:latin typeface="Times New Roman" panose="02020603050405020304" pitchFamily="18" charset="0"/>
                <a:cs typeface="Times New Roman" panose="02020603050405020304" pitchFamily="18" charset="0"/>
              </a:rPr>
              <a:t>Machine Learning-based predictive maintenance</a:t>
            </a:r>
            <a:r>
              <a:rPr lang="en-US" sz="1800" dirty="0">
                <a:latin typeface="Times New Roman" panose="02020603050405020304" pitchFamily="18" charset="0"/>
                <a:cs typeface="Times New Roman" panose="02020603050405020304" pitchFamily="18" charset="0"/>
              </a:rPr>
              <a:t>, using the </a:t>
            </a:r>
            <a:r>
              <a:rPr lang="en-US" sz="1800" b="1" dirty="0">
                <a:latin typeface="Times New Roman" panose="02020603050405020304" pitchFamily="18" charset="0"/>
                <a:cs typeface="Times New Roman" panose="02020603050405020304" pitchFamily="18" charset="0"/>
              </a:rPr>
              <a:t>Random Forest algorithm</a:t>
            </a:r>
            <a:r>
              <a:rPr lang="en-US" sz="1800" dirty="0">
                <a:latin typeface="Times New Roman" panose="02020603050405020304" pitchFamily="18" charset="0"/>
                <a:cs typeface="Times New Roman" panose="02020603050405020304" pitchFamily="18" charset="0"/>
              </a:rPr>
              <a:t> to detect and classify motor faults</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Broken </a:t>
            </a:r>
            <a:r>
              <a:rPr lang="en-US" sz="1800" dirty="0" smtClean="0">
                <a:latin typeface="Times New Roman" panose="02020603050405020304" pitchFamily="18" charset="0"/>
                <a:cs typeface="Times New Roman" panose="02020603050405020304" pitchFamily="18" charset="0"/>
              </a:rPr>
              <a:t>Rotor Bars</a:t>
            </a:r>
          </a:p>
          <a:p>
            <a:pPr lvl="1"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Stator Winding </a:t>
            </a:r>
            <a:r>
              <a:rPr lang="en-US" sz="1800" dirty="0" smtClean="0">
                <a:latin typeface="Times New Roman" panose="02020603050405020304" pitchFamily="18" charset="0"/>
                <a:cs typeface="Times New Roman" panose="02020603050405020304" pitchFamily="18" charset="0"/>
              </a:rPr>
              <a:t>Faults</a:t>
            </a:r>
          </a:p>
          <a:p>
            <a:pPr lvl="1"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Ball Bearing Faults</a:t>
            </a:r>
            <a:endParaRPr lang="en-US" sz="1800" dirty="0" smtClean="0">
              <a:latin typeface="Times New Roman" panose="02020603050405020304" pitchFamily="18" charset="0"/>
              <a:cs typeface="Times New Roman" panose="02020603050405020304" pitchFamily="18" charset="0"/>
            </a:endParaRPr>
          </a:p>
          <a:p>
            <a:pPr algn="just"/>
            <a:r>
              <a:rPr lang="en-US" sz="1800" b="1" dirty="0" smtClean="0">
                <a:latin typeface="Times New Roman" panose="02020603050405020304" pitchFamily="18" charset="0"/>
                <a:cs typeface="Times New Roman" panose="02020603050405020304" pitchFamily="18" charset="0"/>
              </a:rPr>
              <a:t>Signal </a:t>
            </a:r>
            <a:r>
              <a:rPr lang="en-US" sz="1800" b="1" dirty="0">
                <a:latin typeface="Times New Roman" panose="02020603050405020304" pitchFamily="18" charset="0"/>
                <a:cs typeface="Times New Roman" panose="02020603050405020304" pitchFamily="18" charset="0"/>
              </a:rPr>
              <a:t>processing techniques like FFT (Fast Fourier Transform) and MCSA (Motor Current Signature Analysis) </a:t>
            </a:r>
            <a:r>
              <a:rPr lang="en-US" sz="1800" dirty="0">
                <a:latin typeface="Times New Roman" panose="02020603050405020304" pitchFamily="18" charset="0"/>
                <a:cs typeface="Times New Roman" panose="02020603050405020304" pitchFamily="18" charset="0"/>
              </a:rPr>
              <a:t>are used to extract critical fault features.</a:t>
            </a:r>
          </a:p>
          <a:p>
            <a:pPr algn="just"/>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trained Random Forest model is evaluated using </a:t>
            </a:r>
            <a:r>
              <a:rPr lang="en-US" sz="1800" b="1" dirty="0">
                <a:latin typeface="Times New Roman" panose="02020603050405020304" pitchFamily="18" charset="0"/>
                <a:cs typeface="Times New Roman" panose="02020603050405020304" pitchFamily="18" charset="0"/>
              </a:rPr>
              <a:t>confusion matrix, accuracy, precision, recall and F1-score</a:t>
            </a:r>
            <a:r>
              <a:rPr lang="en-US" sz="1800" dirty="0">
                <a:latin typeface="Times New Roman" panose="02020603050405020304" pitchFamily="18" charset="0"/>
                <a:cs typeface="Times New Roman" panose="02020603050405020304" pitchFamily="18" charset="0"/>
              </a:rPr>
              <a:t> to validate its fault prediction capability.</a:t>
            </a:r>
          </a:p>
          <a:p>
            <a:pPr algn="just"/>
            <a:r>
              <a:rPr lang="en-US" sz="1800" dirty="0">
                <a:latin typeface="Times New Roman" panose="02020603050405020304" pitchFamily="18" charset="0"/>
                <a:cs typeface="Times New Roman" panose="02020603050405020304" pitchFamily="18" charset="0"/>
              </a:rPr>
              <a:t>A complete </a:t>
            </a:r>
            <a:r>
              <a:rPr lang="en-US" sz="1800" b="1" dirty="0">
                <a:latin typeface="Times New Roman" panose="02020603050405020304" pitchFamily="18" charset="0"/>
                <a:cs typeface="Times New Roman" panose="02020603050405020304" pitchFamily="18" charset="0"/>
              </a:rPr>
              <a:t>data flow pipeline</a:t>
            </a:r>
            <a:r>
              <a:rPr lang="en-US" sz="1800" dirty="0">
                <a:latin typeface="Times New Roman" panose="02020603050405020304" pitchFamily="18" charset="0"/>
                <a:cs typeface="Times New Roman" panose="02020603050405020304" pitchFamily="18" charset="0"/>
              </a:rPr>
              <a:t> is designed  from cloud-based command transmission to ML-driven fault diagnosis ,entirely implemented in MATLAB for testing and visualization.</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solidFill>
                <a:srgbClr val="FF0000"/>
              </a:solidFill>
              <a:latin typeface="Times New Roman" panose="02020603050405020304" pitchFamily="18" charset="0"/>
              <a:cs typeface="Times New Roman" panose="02020603050405020304" pitchFamily="18" charset="0"/>
            </a:endParaRPr>
          </a:p>
        </p:txBody>
      </p:sp>
      <p:sp>
        <p:nvSpPr>
          <p:cNvPr id="7" name="Footer Placeholder 2">
            <a:extLst>
              <a:ext uri="{FF2B5EF4-FFF2-40B4-BE49-F238E27FC236}">
                <a16:creationId xmlns="" xmlns:a16="http://schemas.microsoft.com/office/drawing/2014/main" id="{A968841F-2F5A-784F-AE38-53AA3EAE8383}"/>
              </a:ext>
            </a:extLst>
          </p:cNvPr>
          <p:cNvSpPr>
            <a:spLocks noGrp="1"/>
          </p:cNvSpPr>
          <p:nvPr>
            <p:ph type="ftr" sz="quarter" idx="11"/>
          </p:nvPr>
        </p:nvSpPr>
        <p:spPr>
          <a:xfrm>
            <a:off x="5147733" y="6388735"/>
            <a:ext cx="3505200" cy="365125"/>
          </a:xfrm>
        </p:spPr>
        <p:txBody>
          <a:bodyPr/>
          <a:lstStyle/>
          <a:p>
            <a:r>
              <a:rPr lang="en-US" dirty="0"/>
              <a:t>Project Batch Number- 22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473EF2A-08DB-4C95-6148-846E9D78CD3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7EB03ED3-7C8A-D97B-5432-1F75044CD2BE}"/>
              </a:ext>
            </a:extLst>
          </p:cNvPr>
          <p:cNvSpPr>
            <a:spLocks noGrp="1"/>
          </p:cNvSpPr>
          <p:nvPr>
            <p:ph type="title"/>
          </p:nvPr>
        </p:nvSpPr>
        <p:spPr/>
        <p:txBody>
          <a:bodyPr/>
          <a:lstStyle/>
          <a:p>
            <a:r>
              <a:rPr lang="en-US" dirty="0"/>
              <a:t>Project Overview</a:t>
            </a:r>
          </a:p>
        </p:txBody>
      </p:sp>
      <p:sp>
        <p:nvSpPr>
          <p:cNvPr id="4" name="Slide Number Placeholder 3">
            <a:extLst>
              <a:ext uri="{FF2B5EF4-FFF2-40B4-BE49-F238E27FC236}">
                <a16:creationId xmlns="" xmlns:a16="http://schemas.microsoft.com/office/drawing/2014/main" id="{97DB2AF4-B06A-A30A-62B5-3FA596693879}"/>
              </a:ext>
            </a:extLst>
          </p:cNvPr>
          <p:cNvSpPr>
            <a:spLocks noGrp="1"/>
          </p:cNvSpPr>
          <p:nvPr>
            <p:ph type="sldNum" sz="quarter" idx="12"/>
          </p:nvPr>
        </p:nvSpPr>
        <p:spPr/>
        <p:txBody>
          <a:bodyPr/>
          <a:lstStyle/>
          <a:p>
            <a:fld id="{E9F1805E-8ECD-4665-ACF6-E4B39ECC81D8}" type="slidenum">
              <a:rPr lang="en-US" smtClean="0"/>
              <a:pPr/>
              <a:t>5</a:t>
            </a:fld>
            <a:endParaRPr lang="en-US"/>
          </a:p>
        </p:txBody>
      </p:sp>
      <p:sp>
        <p:nvSpPr>
          <p:cNvPr id="5" name="Content Placeholder 4">
            <a:extLst>
              <a:ext uri="{FF2B5EF4-FFF2-40B4-BE49-F238E27FC236}">
                <a16:creationId xmlns="" xmlns:a16="http://schemas.microsoft.com/office/drawing/2014/main" id="{E5ABBAA8-C7AC-4A1F-4CB8-13AD4B239967}"/>
              </a:ext>
            </a:extLst>
          </p:cNvPr>
          <p:cNvSpPr>
            <a:spLocks noGrp="1"/>
          </p:cNvSpPr>
          <p:nvPr>
            <p:ph sz="quarter" idx="1"/>
          </p:nvPr>
        </p:nvSpPr>
        <p:spPr>
          <a:xfrm>
            <a:off x="457200" y="1219200"/>
            <a:ext cx="8229600" cy="3810000"/>
          </a:xfrm>
        </p:spPr>
        <p:txBody>
          <a:bodyPr>
            <a:normAutofit/>
          </a:bodyPr>
          <a:lstStyle/>
          <a:p>
            <a:pPr marL="0" indent="0" algn="just">
              <a:buNone/>
            </a:pPr>
            <a:r>
              <a:rPr lang="en-US" sz="1800" b="1" dirty="0">
                <a:latin typeface="Times New Roman" panose="02020603050405020304" pitchFamily="18" charset="0"/>
                <a:cs typeface="Times New Roman" panose="02020603050405020304" pitchFamily="18" charset="0"/>
              </a:rPr>
              <a:t>Objective 2: </a:t>
            </a:r>
          </a:p>
          <a:p>
            <a:pPr algn="just"/>
            <a:r>
              <a:rPr lang="en-US" sz="1800" dirty="0">
                <a:latin typeface="Times New Roman" panose="02020603050405020304" pitchFamily="18" charset="0"/>
                <a:cs typeface="Times New Roman" panose="02020603050405020304" pitchFamily="18" charset="0"/>
              </a:rPr>
              <a:t>The project focuses on creating a </a:t>
            </a:r>
            <a:r>
              <a:rPr lang="en-US" sz="1800" b="1" dirty="0">
                <a:latin typeface="Times New Roman" panose="02020603050405020304" pitchFamily="18" charset="0"/>
                <a:cs typeface="Times New Roman" panose="02020603050405020304" pitchFamily="18" charset="0"/>
              </a:rPr>
              <a:t>cloud-based predictive maintenance system</a:t>
            </a:r>
            <a:r>
              <a:rPr lang="en-US" sz="1800" dirty="0">
                <a:latin typeface="Times New Roman" panose="02020603050405020304" pitchFamily="18" charset="0"/>
                <a:cs typeface="Times New Roman" panose="02020603050405020304" pitchFamily="18" charset="0"/>
              </a:rPr>
              <a:t> for a three-phase induction motor, allowing remote monitoring and control across two countries, India and Brazil for our project.</a:t>
            </a:r>
          </a:p>
          <a:p>
            <a:pPr algn="just"/>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control signal</a:t>
            </a:r>
            <a:r>
              <a:rPr lang="en-US" sz="1800" dirty="0">
                <a:latin typeface="Times New Roman" panose="02020603050405020304" pitchFamily="18" charset="0"/>
                <a:cs typeface="Times New Roman" panose="02020603050405020304" pitchFamily="18" charset="0"/>
              </a:rPr>
              <a:t> for the motor is transmitted from two international geographical locations using the </a:t>
            </a:r>
            <a:r>
              <a:rPr lang="en-US" sz="1800" b="1" dirty="0">
                <a:latin typeface="Times New Roman" panose="02020603050405020304" pitchFamily="18" charset="0"/>
                <a:cs typeface="Times New Roman" panose="02020603050405020304" pitchFamily="18" charset="0"/>
              </a:rPr>
              <a:t>Google Firebase platform</a:t>
            </a:r>
            <a:r>
              <a:rPr lang="en-US" sz="1800" dirty="0">
                <a:latin typeface="Times New Roman" panose="02020603050405020304" pitchFamily="18" charset="0"/>
                <a:cs typeface="Times New Roman" panose="02020603050405020304" pitchFamily="18" charset="0"/>
              </a:rPr>
              <a:t>, demonstrating real-time global connectivity.</a:t>
            </a:r>
          </a:p>
          <a:p>
            <a:pPr algn="just"/>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motor control setup</a:t>
            </a:r>
            <a:r>
              <a:rPr lang="en-US" sz="1800" dirty="0">
                <a:latin typeface="Times New Roman" panose="02020603050405020304" pitchFamily="18" charset="0"/>
                <a:cs typeface="Times New Roman" panose="02020603050405020304" pitchFamily="18" charset="0"/>
              </a:rPr>
              <a:t> includes an ESP32 microcontroller, VFD, and various sensors and the system is currently validated through </a:t>
            </a:r>
            <a:r>
              <a:rPr lang="en-US" sz="1800" b="1" dirty="0">
                <a:latin typeface="Times New Roman" panose="02020603050405020304" pitchFamily="18" charset="0"/>
                <a:cs typeface="Times New Roman" panose="02020603050405020304" pitchFamily="18" charset="0"/>
              </a:rPr>
              <a:t>MATLAB simulations </a:t>
            </a:r>
            <a:r>
              <a:rPr lang="en-US" sz="1800" dirty="0">
                <a:latin typeface="Times New Roman" panose="02020603050405020304" pitchFamily="18" charset="0"/>
                <a:cs typeface="Times New Roman" panose="02020603050405020304" pitchFamily="18" charset="0"/>
              </a:rPr>
              <a:t>(In future it will be implemented in hardware).</a:t>
            </a:r>
          </a:p>
          <a:p>
            <a:pPr algn="just"/>
            <a:r>
              <a:rPr lang="en-US" sz="1800" dirty="0">
                <a:latin typeface="Times New Roman" panose="02020603050405020304" pitchFamily="18" charset="0"/>
                <a:cs typeface="Times New Roman" panose="02020603050405020304" pitchFamily="18" charset="0"/>
              </a:rPr>
              <a:t>Sensor data such as </a:t>
            </a:r>
            <a:r>
              <a:rPr lang="en-US" sz="1800" b="1" dirty="0">
                <a:latin typeface="Times New Roman" panose="02020603050405020304" pitchFamily="18" charset="0"/>
                <a:cs typeface="Times New Roman" panose="02020603050405020304" pitchFamily="18" charset="0"/>
              </a:rPr>
              <a:t>voltage, current, vibration, temperature and speed</a:t>
            </a:r>
            <a:r>
              <a:rPr lang="en-US" sz="1800" dirty="0">
                <a:latin typeface="Times New Roman" panose="02020603050405020304" pitchFamily="18" charset="0"/>
                <a:cs typeface="Times New Roman" panose="02020603050405020304" pitchFamily="18" charset="0"/>
              </a:rPr>
              <a:t> is </a:t>
            </a:r>
            <a:r>
              <a:rPr lang="en-US" sz="1800" b="1" dirty="0">
                <a:latin typeface="Times New Roman" panose="02020603050405020304" pitchFamily="18" charset="0"/>
                <a:cs typeface="Times New Roman" panose="02020603050405020304" pitchFamily="18" charset="0"/>
              </a:rPr>
              <a:t>simulated</a:t>
            </a:r>
            <a:r>
              <a:rPr lang="en-US" sz="1800" dirty="0">
                <a:latin typeface="Times New Roman" panose="02020603050405020304" pitchFamily="18" charset="0"/>
                <a:cs typeface="Times New Roman" panose="02020603050405020304" pitchFamily="18" charset="0"/>
              </a:rPr>
              <a:t> to replicate real-world operating conditions of the motor.</a:t>
            </a:r>
          </a:p>
          <a:p>
            <a:pPr algn="just"/>
            <a:endParaRPr lang="en-US" sz="1800" dirty="0">
              <a:solidFill>
                <a:srgbClr val="FF0000"/>
              </a:solidFill>
              <a:latin typeface="Times New Roman" panose="02020603050405020304" pitchFamily="18" charset="0"/>
              <a:cs typeface="Times New Roman" panose="02020603050405020304" pitchFamily="18" charset="0"/>
            </a:endParaRPr>
          </a:p>
          <a:p>
            <a:pPr algn="just"/>
            <a:endParaRPr lang="en-US" sz="1800" dirty="0">
              <a:solidFill>
                <a:srgbClr val="FF0000"/>
              </a:solidFill>
              <a:latin typeface="Times New Roman" panose="02020603050405020304" pitchFamily="18" charset="0"/>
              <a:cs typeface="Times New Roman" panose="02020603050405020304" pitchFamily="18" charset="0"/>
            </a:endParaRPr>
          </a:p>
        </p:txBody>
      </p:sp>
      <p:sp>
        <p:nvSpPr>
          <p:cNvPr id="7" name="Footer Placeholder 2">
            <a:extLst>
              <a:ext uri="{FF2B5EF4-FFF2-40B4-BE49-F238E27FC236}">
                <a16:creationId xmlns="" xmlns:a16="http://schemas.microsoft.com/office/drawing/2014/main" id="{3B768B00-DFCB-9011-1A11-40600236982C}"/>
              </a:ext>
            </a:extLst>
          </p:cNvPr>
          <p:cNvSpPr>
            <a:spLocks noGrp="1"/>
          </p:cNvSpPr>
          <p:nvPr>
            <p:ph type="ftr" sz="quarter" idx="11"/>
          </p:nvPr>
        </p:nvSpPr>
        <p:spPr>
          <a:xfrm>
            <a:off x="5147733" y="6388735"/>
            <a:ext cx="3505200" cy="365125"/>
          </a:xfrm>
        </p:spPr>
        <p:txBody>
          <a:bodyPr/>
          <a:lstStyle/>
          <a:p>
            <a:r>
              <a:rPr lang="en-US" dirty="0"/>
              <a:t>Project Batch Number- 22</a:t>
            </a:r>
          </a:p>
        </p:txBody>
      </p:sp>
      <p:sp>
        <p:nvSpPr>
          <p:cNvPr id="3" name="TextBox 2">
            <a:extLst>
              <a:ext uri="{FF2B5EF4-FFF2-40B4-BE49-F238E27FC236}">
                <a16:creationId xmlns="" xmlns:a16="http://schemas.microsoft.com/office/drawing/2014/main" id="{1B16E276-4D95-DCA5-B271-1BE32640C95B}"/>
              </a:ext>
            </a:extLst>
          </p:cNvPr>
          <p:cNvSpPr txBox="1"/>
          <p:nvPr/>
        </p:nvSpPr>
        <p:spPr>
          <a:xfrm>
            <a:off x="524934" y="5078581"/>
            <a:ext cx="7543800" cy="1492716"/>
          </a:xfrm>
          <a:prstGeom prst="rect">
            <a:avLst/>
          </a:prstGeom>
          <a:noFill/>
        </p:spPr>
        <p:txBody>
          <a:bodyPr wrap="square" rtlCol="0">
            <a:spAutoFit/>
          </a:bodyPr>
          <a:lstStyle/>
          <a:p>
            <a:pPr algn="just"/>
            <a:r>
              <a:rPr lang="en-US" dirty="0">
                <a:solidFill>
                  <a:schemeClr val="accent1">
                    <a:lumMod val="50000"/>
                  </a:schemeClr>
                </a:solidFill>
                <a:latin typeface="Times New Roman" panose="02020603050405020304" pitchFamily="18" charset="0"/>
                <a:cs typeface="Times New Roman" panose="02020603050405020304" pitchFamily="18" charset="0"/>
              </a:rPr>
              <a:t>Note: The overall system demonstrates a </a:t>
            </a:r>
            <a:r>
              <a:rPr lang="en-US" b="1" dirty="0">
                <a:solidFill>
                  <a:schemeClr val="accent1">
                    <a:lumMod val="50000"/>
                  </a:schemeClr>
                </a:solidFill>
                <a:latin typeface="Times New Roman" panose="02020603050405020304" pitchFamily="18" charset="0"/>
                <a:cs typeface="Times New Roman" panose="02020603050405020304" pitchFamily="18" charset="0"/>
              </a:rPr>
              <a:t>proof of concept</a:t>
            </a:r>
            <a:r>
              <a:rPr lang="en-US" dirty="0">
                <a:solidFill>
                  <a:schemeClr val="accent1">
                    <a:lumMod val="50000"/>
                  </a:schemeClr>
                </a:solidFill>
                <a:latin typeface="Times New Roman" panose="02020603050405020304" pitchFamily="18" charset="0"/>
                <a:cs typeface="Times New Roman" panose="02020603050405020304" pitchFamily="18" charset="0"/>
              </a:rPr>
              <a:t> for a cloud-connected, intelligent motor control and maintenance framework, ready for future </a:t>
            </a:r>
            <a:r>
              <a:rPr lang="en-US" b="1" dirty="0">
                <a:solidFill>
                  <a:schemeClr val="accent1">
                    <a:lumMod val="50000"/>
                  </a:schemeClr>
                </a:solidFill>
                <a:latin typeface="Times New Roman" panose="02020603050405020304" pitchFamily="18" charset="0"/>
                <a:cs typeface="Times New Roman" panose="02020603050405020304" pitchFamily="18" charset="0"/>
              </a:rPr>
              <a:t>hardware integration and real-time deployment</a:t>
            </a:r>
            <a:r>
              <a:rPr lang="en-US" dirty="0">
                <a:solidFill>
                  <a:schemeClr val="accent1">
                    <a:lumMod val="50000"/>
                  </a:schemeClr>
                </a:solidFill>
                <a:latin typeface="Times New Roman" panose="02020603050405020304" pitchFamily="18" charset="0"/>
                <a:cs typeface="Times New Roman" panose="02020603050405020304" pitchFamily="18" charset="0"/>
              </a:rPr>
              <a:t> once physical components are available</a:t>
            </a:r>
            <a:r>
              <a:rPr lang="en-US" sz="1900" dirty="0">
                <a:solidFill>
                  <a:schemeClr val="accent1">
                    <a:lumMod val="50000"/>
                  </a:schemeClr>
                </a:solidFill>
                <a:latin typeface="Times New Roman" panose="02020603050405020304" pitchFamily="18" charset="0"/>
                <a:cs typeface="Times New Roman" panose="02020603050405020304" pitchFamily="18" charset="0"/>
              </a:rPr>
              <a:t>.</a:t>
            </a:r>
          </a:p>
          <a:p>
            <a:pPr algn="just"/>
            <a:endParaRPr lang="en-US" dirty="0">
              <a:solidFill>
                <a:srgbClr val="FF0000"/>
              </a:solidFill>
            </a:endParaRPr>
          </a:p>
        </p:txBody>
      </p:sp>
    </p:spTree>
    <p:extLst>
      <p:ext uri="{BB962C8B-B14F-4D97-AF65-F5344CB8AC3E}">
        <p14:creationId xmlns:p14="http://schemas.microsoft.com/office/powerpoint/2010/main" val="605692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Circuit Diagram</a:t>
            </a:r>
          </a:p>
        </p:txBody>
      </p:sp>
      <p:sp>
        <p:nvSpPr>
          <p:cNvPr id="4" name="Slide Number Placeholder 3"/>
          <p:cNvSpPr>
            <a:spLocks noGrp="1"/>
          </p:cNvSpPr>
          <p:nvPr>
            <p:ph type="sldNum" sz="quarter" idx="12"/>
          </p:nvPr>
        </p:nvSpPr>
        <p:spPr/>
        <p:txBody>
          <a:bodyPr/>
          <a:lstStyle/>
          <a:p>
            <a:fld id="{E9F1805E-8ECD-4665-ACF6-E4B39ECC81D8}" type="slidenum">
              <a:rPr lang="en-US" smtClean="0"/>
              <a:pPr/>
              <a:t>6</a:t>
            </a:fld>
            <a:endParaRPr lang="en-US"/>
          </a:p>
        </p:txBody>
      </p:sp>
      <p:sp>
        <p:nvSpPr>
          <p:cNvPr id="5" name="Content Placeholder 4"/>
          <p:cNvSpPr>
            <a:spLocks noGrp="1"/>
          </p:cNvSpPr>
          <p:nvPr>
            <p:ph sz="quarter" idx="1"/>
          </p:nvPr>
        </p:nvSpPr>
        <p:spPr/>
        <p:txBody>
          <a:bodyPr/>
          <a:lstStyle/>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p:txBody>
      </p:sp>
      <p:sp>
        <p:nvSpPr>
          <p:cNvPr id="6" name="Footer Placeholder 2">
            <a:extLst>
              <a:ext uri="{FF2B5EF4-FFF2-40B4-BE49-F238E27FC236}">
                <a16:creationId xmlns="" xmlns:a16="http://schemas.microsoft.com/office/drawing/2014/main" id="{0E8F7583-99BD-BAC4-6EE9-F69C12A44F60}"/>
              </a:ext>
            </a:extLst>
          </p:cNvPr>
          <p:cNvSpPr>
            <a:spLocks noGrp="1"/>
          </p:cNvSpPr>
          <p:nvPr>
            <p:ph type="ftr" sz="quarter" idx="11"/>
          </p:nvPr>
        </p:nvSpPr>
        <p:spPr>
          <a:xfrm>
            <a:off x="5181600" y="6356985"/>
            <a:ext cx="3505200" cy="365125"/>
          </a:xfrm>
        </p:spPr>
        <p:txBody>
          <a:bodyPr/>
          <a:lstStyle/>
          <a:p>
            <a:r>
              <a:rPr lang="en-US" dirty="0"/>
              <a:t>Project Batch Number- 22</a:t>
            </a:r>
          </a:p>
        </p:txBody>
      </p:sp>
      <p:pic>
        <p:nvPicPr>
          <p:cNvPr id="3" name="Picture 2"/>
          <p:cNvPicPr>
            <a:picLocks noChangeAspect="1"/>
          </p:cNvPicPr>
          <p:nvPr/>
        </p:nvPicPr>
        <p:blipFill>
          <a:blip r:embed="rId2"/>
          <a:stretch>
            <a:fillRect/>
          </a:stretch>
        </p:blipFill>
        <p:spPr>
          <a:xfrm>
            <a:off x="381000" y="1184564"/>
            <a:ext cx="8074153" cy="430183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fontScale="90000"/>
          </a:bodyPr>
          <a:lstStyle/>
          <a:p>
            <a:r>
              <a:rPr lang="en-US" dirty="0" smtClean="0"/>
              <a:t>Circuit Diagram</a:t>
            </a:r>
            <a:endParaRPr lang="en-US" dirty="0"/>
          </a:p>
        </p:txBody>
      </p:sp>
      <p:sp>
        <p:nvSpPr>
          <p:cNvPr id="3" name="Footer Placeholder 2"/>
          <p:cNvSpPr>
            <a:spLocks noGrp="1"/>
          </p:cNvSpPr>
          <p:nvPr>
            <p:ph type="ftr" sz="quarter" idx="11"/>
          </p:nvPr>
        </p:nvSpPr>
        <p:spPr/>
        <p:txBody>
          <a:bodyPr/>
          <a:lstStyle/>
          <a:p>
            <a:r>
              <a:rPr lang="en-US" dirty="0" smtClean="0"/>
              <a:t>Project Batch Number-22</a:t>
            </a:r>
            <a:endParaRPr lang="en-US" dirty="0"/>
          </a:p>
        </p:txBody>
      </p:sp>
      <p:sp>
        <p:nvSpPr>
          <p:cNvPr id="4" name="Slide Number Placeholder 3"/>
          <p:cNvSpPr>
            <a:spLocks noGrp="1"/>
          </p:cNvSpPr>
          <p:nvPr>
            <p:ph type="sldNum" sz="quarter" idx="12"/>
          </p:nvPr>
        </p:nvSpPr>
        <p:spPr/>
        <p:txBody>
          <a:bodyPr/>
          <a:lstStyle/>
          <a:p>
            <a:fld id="{E9F1805E-8ECD-4665-ACF6-E4B39ECC81D8}" type="slidenum">
              <a:rPr lang="en-US" smtClean="0"/>
              <a:pPr/>
              <a:t>7</a:t>
            </a:fld>
            <a:endParaRPr lang="en-US"/>
          </a:p>
        </p:txBody>
      </p:sp>
      <p:sp>
        <p:nvSpPr>
          <p:cNvPr id="5" name="Content Placeholder 4"/>
          <p:cNvSpPr>
            <a:spLocks noGrp="1"/>
          </p:cNvSpPr>
          <p:nvPr>
            <p:ph sz="quarter" idx="1"/>
          </p:nvPr>
        </p:nvSpPr>
        <p:spPr>
          <a:xfrm>
            <a:off x="318655" y="1143000"/>
            <a:ext cx="8839200" cy="4937760"/>
          </a:xfrm>
        </p:spPr>
        <p:txBody>
          <a:bodyPr>
            <a:noAutofit/>
          </a:bodyPr>
          <a:lstStyle/>
          <a:p>
            <a:r>
              <a:rPr lang="en-US" sz="1800" dirty="0">
                <a:latin typeface="Times New Roman" panose="02020603050405020304" pitchFamily="18" charset="0"/>
                <a:cs typeface="Times New Roman" panose="02020603050405020304" pitchFamily="18" charset="0"/>
              </a:rPr>
              <a:t>The circuit diagram illustrates a complete system for remotely controlling a 3-phase induction motor .On the load side, the induction motor is powered through the VFD, which modulates the voltage and frequency to control motor speed and torque. </a:t>
            </a:r>
          </a:p>
          <a:p>
            <a:r>
              <a:rPr lang="en-US" sz="1800" dirty="0">
                <a:latin typeface="Times New Roman" panose="02020603050405020304" pitchFamily="18" charset="0"/>
                <a:cs typeface="Times New Roman" panose="02020603050405020304" pitchFamily="18" charset="0"/>
              </a:rPr>
              <a:t>The VFD receives control signals via RS485, which are generated by the load-side .</a:t>
            </a:r>
          </a:p>
          <a:p>
            <a:r>
              <a:rPr lang="en-US" sz="1800" dirty="0">
                <a:latin typeface="Times New Roman" panose="02020603050405020304" pitchFamily="18" charset="0"/>
                <a:cs typeface="Times New Roman" panose="02020603050405020304" pitchFamily="18" charset="0"/>
              </a:rPr>
              <a:t>On the controller side, a separate microcontroller generates commands such as motor speed, Start and stop instruction. These commands are communicated to the load side via Firebase cloud services, enabling real-time remote control. </a:t>
            </a:r>
          </a:p>
          <a:p>
            <a:r>
              <a:rPr lang="en-US" sz="1800" dirty="0">
                <a:latin typeface="Times New Roman" panose="02020603050405020304" pitchFamily="18" charset="0"/>
                <a:cs typeface="Times New Roman" panose="02020603050405020304" pitchFamily="18" charset="0"/>
              </a:rPr>
              <a:t>The cloud acts as a bidirectional communication bridge, allowing the controller to send commands and receive feedback on motor performance or faults. </a:t>
            </a:r>
          </a:p>
          <a:p>
            <a:r>
              <a:rPr lang="en-US" sz="1800" dirty="0">
                <a:latin typeface="Times New Roman" panose="02020603050405020304" pitchFamily="18" charset="0"/>
                <a:cs typeface="Times New Roman" panose="02020603050405020304" pitchFamily="18" charset="0"/>
              </a:rPr>
              <a:t>Feedback signals from the motor travel back through the same path in reverse, ensuring that the controller side is continuously updated. </a:t>
            </a:r>
          </a:p>
          <a:p>
            <a:r>
              <a:rPr lang="en-US" sz="1800" dirty="0">
                <a:latin typeface="Times New Roman" panose="02020603050405020304" pitchFamily="18" charset="0"/>
                <a:cs typeface="Times New Roman" panose="02020603050405020304" pitchFamily="18" charset="0"/>
              </a:rPr>
              <a:t>The main target is to include real-time remote operation and a reliable communication interface. Two-way data flow ensures that control and monitoring occur simultaneously. </a:t>
            </a:r>
            <a:endParaRPr lang="en-US" sz="1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4665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Circuit Diagram</a:t>
            </a:r>
            <a:endParaRPr lang="en-US" dirty="0"/>
          </a:p>
        </p:txBody>
      </p:sp>
      <p:sp>
        <p:nvSpPr>
          <p:cNvPr id="3" name="Footer Placeholder 2"/>
          <p:cNvSpPr>
            <a:spLocks noGrp="1"/>
          </p:cNvSpPr>
          <p:nvPr>
            <p:ph type="ftr" sz="quarter" idx="11"/>
          </p:nvPr>
        </p:nvSpPr>
        <p:spPr/>
        <p:txBody>
          <a:bodyPr/>
          <a:lstStyle/>
          <a:p>
            <a:r>
              <a:rPr lang="en-US" dirty="0" smtClean="0"/>
              <a:t>Project Batch Number-22</a:t>
            </a:r>
            <a:endParaRPr lang="en-US" dirty="0"/>
          </a:p>
        </p:txBody>
      </p:sp>
      <p:sp>
        <p:nvSpPr>
          <p:cNvPr id="4" name="Slide Number Placeholder 3"/>
          <p:cNvSpPr>
            <a:spLocks noGrp="1"/>
          </p:cNvSpPr>
          <p:nvPr>
            <p:ph type="sldNum" sz="quarter" idx="12"/>
          </p:nvPr>
        </p:nvSpPr>
        <p:spPr/>
        <p:txBody>
          <a:bodyPr/>
          <a:lstStyle/>
          <a:p>
            <a:fld id="{E9F1805E-8ECD-4665-ACF6-E4B39ECC81D8}" type="slidenum">
              <a:rPr lang="en-US" smtClean="0"/>
              <a:pPr/>
              <a:t>8</a:t>
            </a:fld>
            <a:endParaRPr lang="en-US"/>
          </a:p>
        </p:txBody>
      </p:sp>
      <p:sp>
        <p:nvSpPr>
          <p:cNvPr id="5" name="Content Placeholder 4"/>
          <p:cNvSpPr>
            <a:spLocks noGrp="1"/>
          </p:cNvSpPr>
          <p:nvPr>
            <p:ph sz="quarter" idx="1"/>
          </p:nvPr>
        </p:nvSpPr>
        <p:spPr/>
        <p:txBody>
          <a:bodyPr>
            <a:normAutofit/>
          </a:bodyPr>
          <a:lstStyle/>
          <a:p>
            <a:r>
              <a:rPr lang="en-US" sz="1800" dirty="0">
                <a:latin typeface="Times New Roman" panose="02020603050405020304" pitchFamily="18" charset="0"/>
                <a:cs typeface="Times New Roman" panose="02020603050405020304" pitchFamily="18" charset="0"/>
              </a:rPr>
              <a:t>The system uses vibration, temperature, voltage and current sensors to monitor real-time operating conditions of the 3-phase induction motor. These sensors capture essential performance parameters required for fault detection and analysis.</a:t>
            </a:r>
          </a:p>
          <a:p>
            <a:r>
              <a:rPr lang="en-US" sz="1800" dirty="0">
                <a:latin typeface="Times New Roman" panose="02020603050405020304" pitchFamily="18" charset="0"/>
                <a:cs typeface="Times New Roman" panose="02020603050405020304" pitchFamily="18" charset="0"/>
              </a:rPr>
              <a:t>The collected sensor readings help identify variations motor temperature, unusual vibrations, voltage and current faults. These parameters form the base data for both monitoring and training the ML model.</a:t>
            </a:r>
          </a:p>
          <a:p>
            <a:r>
              <a:rPr lang="en-US" sz="1800" dirty="0">
                <a:latin typeface="Times New Roman" panose="02020603050405020304" pitchFamily="18" charset="0"/>
                <a:cs typeface="Times New Roman" panose="02020603050405020304" pitchFamily="18" charset="0"/>
              </a:rPr>
              <a:t>The live sensor data is transferred to Google Sheets through the cloud interface, where it is compared with ML-predicted outputs to verify accuracy. This continuous data transfer and comparison help validate the model’s reliability and improve prediction performance</a:t>
            </a:r>
          </a:p>
          <a:p>
            <a:endParaRPr lang="en-US" sz="1800" dirty="0"/>
          </a:p>
        </p:txBody>
      </p:sp>
    </p:spTree>
    <p:extLst>
      <p:ext uri="{BB962C8B-B14F-4D97-AF65-F5344CB8AC3E}">
        <p14:creationId xmlns:p14="http://schemas.microsoft.com/office/powerpoint/2010/main" val="1535918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673" y="81428"/>
            <a:ext cx="8229600" cy="990600"/>
          </a:xfrm>
        </p:spPr>
        <p:txBody>
          <a:bodyPr/>
          <a:lstStyle/>
          <a:p>
            <a:r>
              <a:rPr lang="en-US" dirty="0" smtClean="0"/>
              <a:t>Block Diagram</a:t>
            </a:r>
            <a:endParaRPr lang="en-US" dirty="0"/>
          </a:p>
        </p:txBody>
      </p:sp>
      <p:sp>
        <p:nvSpPr>
          <p:cNvPr id="3" name="Footer Placeholder 2"/>
          <p:cNvSpPr>
            <a:spLocks noGrp="1"/>
          </p:cNvSpPr>
          <p:nvPr>
            <p:ph type="ftr" sz="quarter" idx="11"/>
          </p:nvPr>
        </p:nvSpPr>
        <p:spPr/>
        <p:txBody>
          <a:bodyPr/>
          <a:lstStyle/>
          <a:p>
            <a:r>
              <a:rPr lang="en-US" dirty="0" smtClean="0"/>
              <a:t>Project Batch Number-22</a:t>
            </a:r>
            <a:endParaRPr lang="en-US" dirty="0"/>
          </a:p>
        </p:txBody>
      </p:sp>
      <p:sp>
        <p:nvSpPr>
          <p:cNvPr id="4" name="Slide Number Placeholder 3"/>
          <p:cNvSpPr>
            <a:spLocks noGrp="1"/>
          </p:cNvSpPr>
          <p:nvPr>
            <p:ph type="sldNum" sz="quarter" idx="12"/>
          </p:nvPr>
        </p:nvSpPr>
        <p:spPr/>
        <p:txBody>
          <a:bodyPr/>
          <a:lstStyle/>
          <a:p>
            <a:fld id="{E9F1805E-8ECD-4665-ACF6-E4B39ECC81D8}" type="slidenum">
              <a:rPr lang="en-US" smtClean="0"/>
              <a:pPr/>
              <a:t>9</a:t>
            </a:fld>
            <a:endParaRPr lang="en-US"/>
          </a:p>
        </p:txBody>
      </p:sp>
      <p:sp>
        <p:nvSpPr>
          <p:cNvPr id="5" name="Content Placeholder 4"/>
          <p:cNvSpPr>
            <a:spLocks noGrp="1"/>
          </p:cNvSpPr>
          <p:nvPr>
            <p:ph sz="quarter" idx="1"/>
          </p:nvPr>
        </p:nvSpPr>
        <p:spPr/>
        <p:txBody>
          <a:bodyPr>
            <a:normAutofit/>
          </a:bodyPr>
          <a:lstStyle/>
          <a:p>
            <a:endParaRPr lang="en-US" sz="1800" dirty="0" smtClean="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587248" y="1292200"/>
            <a:ext cx="7927848" cy="4885542"/>
          </a:xfrm>
          <a:prstGeom prst="rect">
            <a:avLst/>
          </a:prstGeom>
        </p:spPr>
      </p:pic>
    </p:spTree>
    <p:extLst>
      <p:ext uri="{BB962C8B-B14F-4D97-AF65-F5344CB8AC3E}">
        <p14:creationId xmlns:p14="http://schemas.microsoft.com/office/powerpoint/2010/main" val="3600229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 diagram</a:t>
            </a:r>
            <a:endParaRPr lang="en-US" dirty="0"/>
          </a:p>
        </p:txBody>
      </p:sp>
      <p:sp>
        <p:nvSpPr>
          <p:cNvPr id="3" name="Footer Placeholder 2"/>
          <p:cNvSpPr>
            <a:spLocks noGrp="1"/>
          </p:cNvSpPr>
          <p:nvPr>
            <p:ph type="ftr" sz="quarter" idx="11"/>
          </p:nvPr>
        </p:nvSpPr>
        <p:spPr/>
        <p:txBody>
          <a:bodyPr/>
          <a:lstStyle/>
          <a:p>
            <a:r>
              <a:rPr lang="en-US" dirty="0" smtClean="0"/>
              <a:t>Project Batch Number-22</a:t>
            </a:r>
            <a:endParaRPr lang="en-US" dirty="0"/>
          </a:p>
        </p:txBody>
      </p:sp>
      <p:sp>
        <p:nvSpPr>
          <p:cNvPr id="4" name="Slide Number Placeholder 3"/>
          <p:cNvSpPr>
            <a:spLocks noGrp="1"/>
          </p:cNvSpPr>
          <p:nvPr>
            <p:ph type="sldNum" sz="quarter" idx="12"/>
          </p:nvPr>
        </p:nvSpPr>
        <p:spPr/>
        <p:txBody>
          <a:bodyPr/>
          <a:lstStyle/>
          <a:p>
            <a:fld id="{E9F1805E-8ECD-4665-ACF6-E4B39ECC81D8}" type="slidenum">
              <a:rPr lang="en-US" smtClean="0"/>
              <a:pPr/>
              <a:t>10</a:t>
            </a:fld>
            <a:endParaRPr lang="en-US"/>
          </a:p>
        </p:txBody>
      </p:sp>
      <p:sp>
        <p:nvSpPr>
          <p:cNvPr id="5" name="Content Placeholder 4"/>
          <p:cNvSpPr>
            <a:spLocks noGrp="1"/>
          </p:cNvSpPr>
          <p:nvPr>
            <p:ph sz="quarter" idx="1"/>
          </p:nvPr>
        </p:nvSpPr>
        <p:spPr/>
        <p:txBody>
          <a:bodyPr>
            <a:normAutofit/>
          </a:bodyPr>
          <a:lstStyle/>
          <a:p>
            <a:pPr marL="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a:t>
            </a:r>
            <a:r>
              <a:rPr lang="en-US" sz="1800" dirty="0" smtClean="0">
                <a:latin typeface="Times New Roman" panose="02020603050405020304" pitchFamily="18" charset="0"/>
                <a:cs typeface="Times New Roman" panose="02020603050405020304" pitchFamily="18" charset="0"/>
              </a:rPr>
              <a:t>ensor </a:t>
            </a:r>
            <a:r>
              <a:rPr lang="en-US" sz="1800" dirty="0">
                <a:latin typeface="Times New Roman" panose="02020603050405020304" pitchFamily="18" charset="0"/>
                <a:cs typeface="Times New Roman" panose="02020603050405020304" pitchFamily="18" charset="0"/>
              </a:rPr>
              <a:t>data </a:t>
            </a:r>
            <a:r>
              <a:rPr lang="en-US" sz="1800" dirty="0" smtClean="0">
                <a:latin typeface="Times New Roman" panose="02020603050405020304" pitchFamily="18" charset="0"/>
                <a:cs typeface="Times New Roman" panose="02020603050405020304" pitchFamily="18" charset="0"/>
              </a:rPr>
              <a:t>collection- </a:t>
            </a:r>
            <a:r>
              <a:rPr lang="en-US" sz="1800" dirty="0">
                <a:latin typeface="Times New Roman" panose="02020603050405020304" pitchFamily="18" charset="0"/>
                <a:cs typeface="Times New Roman" panose="02020603050405020304" pitchFamily="18" charset="0"/>
              </a:rPr>
              <a:t>Sensors continuously measure voltage, current, temperature, and vibration parameters of the motor. These signals act as the primary input for the ML-based monitoring system. </a:t>
            </a:r>
          </a:p>
          <a:p>
            <a:r>
              <a:rPr lang="en-US" sz="1800" dirty="0">
                <a:latin typeface="Times New Roman" panose="02020603050405020304" pitchFamily="18" charset="0"/>
                <a:cs typeface="Times New Roman" panose="02020603050405020304" pitchFamily="18" charset="0"/>
              </a:rPr>
              <a:t>D</a:t>
            </a:r>
            <a:r>
              <a:rPr lang="en-US" sz="1800" dirty="0" smtClean="0">
                <a:latin typeface="Times New Roman" panose="02020603050405020304" pitchFamily="18" charset="0"/>
                <a:cs typeface="Times New Roman" panose="02020603050405020304" pitchFamily="18" charset="0"/>
              </a:rPr>
              <a:t>ata preprocessing- </a:t>
            </a:r>
            <a:r>
              <a:rPr lang="en-US" sz="1800" dirty="0">
                <a:latin typeface="Times New Roman" panose="02020603050405020304" pitchFamily="18" charset="0"/>
                <a:cs typeface="Times New Roman" panose="02020603050405020304" pitchFamily="18" charset="0"/>
              </a:rPr>
              <a:t>Collected data is filtered and normalized to remove noise and stabilize readings. This ensures accurate input to the prediction model without distortion.</a:t>
            </a:r>
          </a:p>
          <a:p>
            <a:r>
              <a:rPr lang="en-US" sz="1800" dirty="0" smtClean="0">
                <a:latin typeface="Times New Roman" panose="02020603050405020304" pitchFamily="18" charset="0"/>
                <a:cs typeface="Times New Roman" panose="02020603050405020304" pitchFamily="18" charset="0"/>
              </a:rPr>
              <a:t>Feature Extraction- </a:t>
            </a:r>
            <a:r>
              <a:rPr lang="en-US" sz="1800" dirty="0">
                <a:latin typeface="Times New Roman" panose="02020603050405020304" pitchFamily="18" charset="0"/>
                <a:cs typeface="Times New Roman" panose="02020603050405020304" pitchFamily="18" charset="0"/>
              </a:rPr>
              <a:t>Key features such as RMS current, torque variation, and thermal response are extracted from the raw sensor data. These features help identify motor performance and operating trends.</a:t>
            </a:r>
          </a:p>
          <a:p>
            <a:r>
              <a:rPr lang="en-US" sz="1800" dirty="0">
                <a:latin typeface="Times New Roman" panose="02020603050405020304" pitchFamily="18" charset="0"/>
                <a:cs typeface="Times New Roman" panose="02020603050405020304" pitchFamily="18" charset="0"/>
              </a:rPr>
              <a:t>A trained ML model analyzes input patterns to detect early signs of faults like overcurrent or overheating. This supports predictive maintenance and prevents breakdowns. This is done to see the fault parameters</a:t>
            </a:r>
          </a:p>
          <a:p>
            <a:r>
              <a:rPr lang="en-US" sz="1800" dirty="0">
                <a:latin typeface="Times New Roman" panose="02020603050405020304" pitchFamily="18" charset="0"/>
                <a:cs typeface="Times New Roman" panose="02020603050405020304" pitchFamily="18" charset="0"/>
              </a:rPr>
              <a:t>The ML system dynamically adjusts operating parameters to maintain optimal voltage-frequency ratio. This enhances efficiency and smooth torque output under variable load.</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1741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 Diagram</a:t>
            </a:r>
            <a:endParaRPr lang="en-US" dirty="0"/>
          </a:p>
        </p:txBody>
      </p:sp>
      <p:sp>
        <p:nvSpPr>
          <p:cNvPr id="3" name="Footer Placeholder 2"/>
          <p:cNvSpPr>
            <a:spLocks noGrp="1"/>
          </p:cNvSpPr>
          <p:nvPr>
            <p:ph type="ftr" sz="quarter" idx="11"/>
          </p:nvPr>
        </p:nvSpPr>
        <p:spPr/>
        <p:txBody>
          <a:bodyPr/>
          <a:lstStyle/>
          <a:p>
            <a:r>
              <a:rPr lang="en-US" dirty="0" smtClean="0"/>
              <a:t>Project Batch Number-22</a:t>
            </a:r>
          </a:p>
          <a:p>
            <a:endParaRPr lang="en-US" dirty="0"/>
          </a:p>
        </p:txBody>
      </p:sp>
      <p:sp>
        <p:nvSpPr>
          <p:cNvPr id="4" name="Slide Number Placeholder 3"/>
          <p:cNvSpPr>
            <a:spLocks noGrp="1"/>
          </p:cNvSpPr>
          <p:nvPr>
            <p:ph type="sldNum" sz="quarter" idx="12"/>
          </p:nvPr>
        </p:nvSpPr>
        <p:spPr/>
        <p:txBody>
          <a:bodyPr/>
          <a:lstStyle/>
          <a:p>
            <a:fld id="{E9F1805E-8ECD-4665-ACF6-E4B39ECC81D8}" type="slidenum">
              <a:rPr lang="en-US" smtClean="0"/>
              <a:pPr/>
              <a:t>11</a:t>
            </a:fld>
            <a:endParaRPr lang="en-US"/>
          </a:p>
        </p:txBody>
      </p:sp>
      <p:sp>
        <p:nvSpPr>
          <p:cNvPr id="5" name="Content Placeholder 4"/>
          <p:cNvSpPr>
            <a:spLocks noGrp="1"/>
          </p:cNvSpPr>
          <p:nvPr>
            <p:ph sz="quarter" idx="1"/>
          </p:nvPr>
        </p:nvSpPr>
        <p:spPr/>
        <p:txBody>
          <a:bodyPr>
            <a:normAutofit/>
          </a:bodyPr>
          <a:lstStyle/>
          <a:p>
            <a:r>
              <a:rPr lang="en-US" sz="1800" dirty="0">
                <a:latin typeface="Times New Roman" panose="02020603050405020304" pitchFamily="18" charset="0"/>
                <a:cs typeface="Times New Roman" panose="02020603050405020304" pitchFamily="18" charset="0"/>
              </a:rPr>
              <a:t>The model monitors data in real time and issues alerts for unusual behavior. This allows timely corrective actions and improves system reliability</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The controller section is planned to handle command signals such as start, stop, and speed control. It acts as an interface between ML </a:t>
            </a:r>
            <a:r>
              <a:rPr lang="en-US" sz="1800" dirty="0" smtClean="0">
                <a:latin typeface="Times New Roman" panose="02020603050405020304" pitchFamily="18" charset="0"/>
                <a:cs typeface="Times New Roman" panose="02020603050405020304" pitchFamily="18" charset="0"/>
              </a:rPr>
              <a:t>output </a:t>
            </a:r>
            <a:r>
              <a:rPr lang="en-US" sz="1800" dirty="0">
                <a:latin typeface="Times New Roman" panose="02020603050405020304" pitchFamily="18" charset="0"/>
                <a:cs typeface="Times New Roman" panose="02020603050405020304" pitchFamily="18" charset="0"/>
              </a:rPr>
              <a:t>and the motor drive system</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Firebase-based cloud setup will ensure remote data transfer between the ML system and controller. It will enable two-way monitoring and command execution</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The Variable Frequency Drive receives control signals to regulate voltage and frequency. This allows speed and torque control based on predicted ML recommendations</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Once hardware integration is complete, feedback signals from sensors will be continuously analyzed. This ensures accurate synchronization between predicted and actual motor performance.</a:t>
            </a:r>
            <a:endParaRPr lang="en-US" sz="1800" dirty="0" smtClean="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2938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rmAutofit fontScale="90000"/>
          </a:bodyPr>
          <a:lstStyle/>
          <a:p>
            <a:r>
              <a:rPr lang="en-US" dirty="0" smtClean="0"/>
              <a:t>Design Specifications</a:t>
            </a:r>
            <a:endParaRPr lang="en-US" dirty="0"/>
          </a:p>
        </p:txBody>
      </p:sp>
      <p:sp>
        <p:nvSpPr>
          <p:cNvPr id="3" name="Footer Placeholder 2"/>
          <p:cNvSpPr>
            <a:spLocks noGrp="1"/>
          </p:cNvSpPr>
          <p:nvPr>
            <p:ph type="ftr" sz="quarter" idx="11"/>
          </p:nvPr>
        </p:nvSpPr>
        <p:spPr/>
        <p:txBody>
          <a:bodyPr/>
          <a:lstStyle/>
          <a:p>
            <a:r>
              <a:rPr lang="en-US" smtClean="0"/>
              <a:t>Project Batch Number #</a:t>
            </a:r>
            <a:endParaRPr lang="en-US"/>
          </a:p>
        </p:txBody>
      </p:sp>
      <p:sp>
        <p:nvSpPr>
          <p:cNvPr id="4" name="Slide Number Placeholder 3"/>
          <p:cNvSpPr>
            <a:spLocks noGrp="1"/>
          </p:cNvSpPr>
          <p:nvPr>
            <p:ph type="sldNum" sz="quarter" idx="12"/>
          </p:nvPr>
        </p:nvSpPr>
        <p:spPr/>
        <p:txBody>
          <a:bodyPr/>
          <a:lstStyle/>
          <a:p>
            <a:fld id="{E9F1805E-8ECD-4665-ACF6-E4B39ECC81D8}" type="slidenum">
              <a:rPr lang="en-US" smtClean="0"/>
              <a:pPr/>
              <a:t>12</a:t>
            </a:fld>
            <a:endParaRPr lang="en-US"/>
          </a:p>
        </p:txBody>
      </p:sp>
      <p:graphicFrame>
        <p:nvGraphicFramePr>
          <p:cNvPr id="6" name="Content Placeholder 5"/>
          <p:cNvGraphicFramePr>
            <a:graphicFrameLocks noGrp="1"/>
          </p:cNvGraphicFramePr>
          <p:nvPr>
            <p:ph sz="quarter" idx="1"/>
            <p:extLst>
              <p:ext uri="{D42A27DB-BD31-4B8C-83A1-F6EECF244321}">
                <p14:modId xmlns:p14="http://schemas.microsoft.com/office/powerpoint/2010/main" val="4260121604"/>
              </p:ext>
            </p:extLst>
          </p:nvPr>
        </p:nvGraphicFramePr>
        <p:xfrm>
          <a:off x="381000" y="798657"/>
          <a:ext cx="8191500" cy="5486400"/>
        </p:xfrm>
        <a:graphic>
          <a:graphicData uri="http://schemas.openxmlformats.org/drawingml/2006/table">
            <a:tbl>
              <a:tblPr firstRow="1" bandRow="1">
                <a:tableStyleId>{5C22544A-7EE6-4342-B048-85BDC9FD1C3A}</a:tableStyleId>
              </a:tblPr>
              <a:tblGrid>
                <a:gridCol w="2310423"/>
                <a:gridCol w="5881077"/>
              </a:tblGrid>
              <a:tr h="287885">
                <a:tc>
                  <a:txBody>
                    <a:bodyPr/>
                    <a:lstStyle/>
                    <a:p>
                      <a:endParaRPr lang="en-US" sz="1600" dirty="0">
                        <a:latin typeface="Times New Roman" panose="02020603050405020304" pitchFamily="18" charset="0"/>
                        <a:cs typeface="Times New Roman" panose="02020603050405020304" pitchFamily="18" charset="0"/>
                      </a:endParaRPr>
                    </a:p>
                  </a:txBody>
                  <a:tcPr/>
                </a:tc>
                <a:tc>
                  <a:txBody>
                    <a:bodyPr/>
                    <a:lstStyle/>
                    <a:p>
                      <a:endParaRPr lang="en-US" sz="1600" dirty="0">
                        <a:latin typeface="Times New Roman" panose="02020603050405020304" pitchFamily="18" charset="0"/>
                        <a:cs typeface="Times New Roman" panose="02020603050405020304" pitchFamily="18" charset="0"/>
                      </a:endParaRPr>
                    </a:p>
                  </a:txBody>
                  <a:tcPr/>
                </a:tc>
              </a:tr>
              <a:tr h="22311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kern="1200" dirty="0" smtClean="0">
                          <a:solidFill>
                            <a:schemeClr val="dk1"/>
                          </a:solidFill>
                          <a:effectLst/>
                          <a:latin typeface="Times New Roman" panose="02020603050405020304" pitchFamily="18" charset="0"/>
                          <a:ea typeface="+mn-ea"/>
                          <a:cs typeface="Times New Roman" panose="02020603050405020304" pitchFamily="18" charset="0"/>
                        </a:rPr>
                        <a:t>Motor (Target) &amp; VFD (Target) Specifications</a:t>
                      </a:r>
                      <a:endPar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txBody>
                  <a:tcPr/>
                </a:tc>
                <a:tc>
                  <a:txBody>
                    <a:bodyPr/>
                    <a:lstStyle/>
                    <a:p>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a:t>
                      </a:r>
                      <a:r>
                        <a:rPr kumimoji="0" lang="en-US" sz="1600" b="1" kern="1200" dirty="0" smtClean="0">
                          <a:solidFill>
                            <a:schemeClr val="dk1"/>
                          </a:solidFill>
                          <a:effectLst/>
                          <a:latin typeface="Times New Roman" panose="02020603050405020304" pitchFamily="18" charset="0"/>
                          <a:ea typeface="+mn-ea"/>
                          <a:cs typeface="Times New Roman" panose="02020603050405020304" pitchFamily="18" charset="0"/>
                        </a:rPr>
                        <a:t>Model: </a:t>
                      </a:r>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Siemens IE2 Category Motor</a:t>
                      </a:r>
                    </a:p>
                    <a:p>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Power: One HP/0.75 kW</a:t>
                      </a:r>
                    </a:p>
                    <a:p>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Voltage: 415 V, 50 Hz</a:t>
                      </a:r>
                    </a:p>
                    <a:p>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Speed: 1000 RPM</a:t>
                      </a:r>
                    </a:p>
                    <a:p>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Foot mounting, 6-pole, VPI insulation</a:t>
                      </a:r>
                    </a:p>
                    <a:p>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a:t>
                      </a:r>
                      <a:r>
                        <a:rPr kumimoji="0" lang="en-US" sz="1600" b="1" kern="1200" dirty="0" smtClean="0">
                          <a:solidFill>
                            <a:schemeClr val="dk1"/>
                          </a:solidFill>
                          <a:effectLst/>
                          <a:latin typeface="Times New Roman" panose="02020603050405020304" pitchFamily="18" charset="0"/>
                          <a:ea typeface="+mn-ea"/>
                          <a:cs typeface="Times New Roman" panose="02020603050405020304" pitchFamily="18" charset="0"/>
                        </a:rPr>
                        <a:t>Model:</a:t>
                      </a:r>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Delta VFD007EL43W ELW</a:t>
                      </a:r>
                      <a:b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br>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Power: One HP/0.75 kW &amp; 3-phase output</a:t>
                      </a:r>
                      <a:b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br>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Controls speed by varying voltage &amp; frequency.</a:t>
                      </a:r>
                      <a:b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br>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Communication: RS485 (Modbus RTU)</a:t>
                      </a:r>
                    </a:p>
                    <a:p>
                      <a:endParaRPr lang="en-US" sz="1600" dirty="0">
                        <a:latin typeface="Times New Roman" panose="02020603050405020304" pitchFamily="18" charset="0"/>
                        <a:cs typeface="Times New Roman" panose="02020603050405020304" pitchFamily="18" charset="0"/>
                      </a:endParaRPr>
                    </a:p>
                  </a:txBody>
                  <a:tcPr/>
                </a:tc>
              </a:tr>
              <a:tr h="1583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kern="1200" dirty="0" smtClean="0">
                          <a:solidFill>
                            <a:schemeClr val="dk1"/>
                          </a:solidFill>
                          <a:effectLst/>
                          <a:latin typeface="Times New Roman" panose="02020603050405020304" pitchFamily="18" charset="0"/>
                          <a:ea typeface="+mn-ea"/>
                          <a:cs typeface="Times New Roman" panose="02020603050405020304" pitchFamily="18" charset="0"/>
                        </a:rPr>
                        <a:t>Communication Protocols</a:t>
                      </a:r>
                      <a:endPar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txBody>
                  <a:tcPr/>
                </a:tc>
                <a:tc>
                  <a:txBody>
                    <a:bodyPr/>
                    <a:lstStyle/>
                    <a:p>
                      <a:pPr lvl="0"/>
                      <a:r>
                        <a:rPr kumimoji="0" lang="en-US" sz="1600" b="1" kern="1200" dirty="0" smtClean="0">
                          <a:solidFill>
                            <a:schemeClr val="dk1"/>
                          </a:solidFill>
                          <a:effectLst/>
                          <a:latin typeface="Times New Roman" panose="02020603050405020304" pitchFamily="18" charset="0"/>
                          <a:ea typeface="+mn-ea"/>
                          <a:cs typeface="Times New Roman" panose="02020603050405020304" pitchFamily="18" charset="0"/>
                        </a:rPr>
                        <a:t>Cloud link</a:t>
                      </a:r>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Firebase </a:t>
                      </a:r>
                      <a:r>
                        <a:rPr kumimoji="0" lang="en-US" sz="1600" kern="1200" dirty="0" err="1" smtClean="0">
                          <a:solidFill>
                            <a:schemeClr val="dk1"/>
                          </a:solidFill>
                          <a:effectLst/>
                          <a:latin typeface="Times New Roman" panose="02020603050405020304" pitchFamily="18" charset="0"/>
                          <a:ea typeface="+mn-ea"/>
                          <a:cs typeface="Times New Roman" panose="02020603050405020304" pitchFamily="18" charset="0"/>
                        </a:rPr>
                        <a:t>Realtime</a:t>
                      </a:r>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Database  for low-latency publish/subscribe. </a:t>
                      </a:r>
                    </a:p>
                    <a:p>
                      <a:pPr lvl="0"/>
                      <a:r>
                        <a:rPr kumimoji="0" lang="en-US" sz="1600" b="1" kern="1200" dirty="0" smtClean="0">
                          <a:solidFill>
                            <a:schemeClr val="dk1"/>
                          </a:solidFill>
                          <a:effectLst/>
                          <a:latin typeface="Times New Roman" panose="02020603050405020304" pitchFamily="18" charset="0"/>
                          <a:ea typeface="+mn-ea"/>
                          <a:cs typeface="Times New Roman" panose="02020603050405020304" pitchFamily="18" charset="0"/>
                        </a:rPr>
                        <a:t>Local link</a:t>
                      </a:r>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TTL to RS485 (Modbus RTU or custom serial) between ESP32 and VFD. </a:t>
                      </a:r>
                    </a:p>
                    <a:p>
                      <a:pPr lvl="0"/>
                      <a:r>
                        <a:rPr kumimoji="0" lang="en-US" sz="1600" b="1" kern="1200" dirty="0" smtClean="0">
                          <a:solidFill>
                            <a:schemeClr val="dk1"/>
                          </a:solidFill>
                          <a:effectLst/>
                          <a:latin typeface="Times New Roman" panose="02020603050405020304" pitchFamily="18" charset="0"/>
                          <a:ea typeface="+mn-ea"/>
                          <a:cs typeface="Times New Roman" panose="02020603050405020304" pitchFamily="18" charset="0"/>
                        </a:rPr>
                        <a:t>Telemetry push</a:t>
                      </a:r>
                      <a:r>
                        <a:rPr kumimoji="0" lang="en-US" sz="1600" kern="1200" dirty="0" smtClean="0">
                          <a:solidFill>
                            <a:schemeClr val="dk1"/>
                          </a:solidFill>
                          <a:effectLst/>
                          <a:latin typeface="Times New Roman" panose="02020603050405020304" pitchFamily="18" charset="0"/>
                          <a:ea typeface="+mn-ea"/>
                          <a:cs typeface="Times New Roman" panose="02020603050405020304" pitchFamily="18" charset="0"/>
                        </a:rPr>
                        <a:t>: ESP32 to Google Sheets API or Firebase; design includes JSON payload format and timestamps (UTC).</a:t>
                      </a:r>
                    </a:p>
                    <a:p>
                      <a:endParaRPr lang="en-US" sz="1600" dirty="0">
                        <a:latin typeface="Times New Roman" panose="02020603050405020304" pitchFamily="18" charset="0"/>
                        <a:cs typeface="Times New Roman" panose="02020603050405020304" pitchFamily="18" charset="0"/>
                      </a:endParaRPr>
                    </a:p>
                  </a:txBody>
                  <a:tcPr/>
                </a:tc>
              </a:tr>
              <a:tr h="719713">
                <a:tc>
                  <a:txBody>
                    <a:bodyPr/>
                    <a:lstStyle/>
                    <a:p>
                      <a:r>
                        <a:rPr lang="en-US" sz="1600" dirty="0" smtClean="0">
                          <a:latin typeface="Times New Roman" panose="02020603050405020304" pitchFamily="18" charset="0"/>
                          <a:cs typeface="Times New Roman" panose="02020603050405020304" pitchFamily="18" charset="0"/>
                        </a:rPr>
                        <a:t>Sensors for ML Prediction</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ZMPT101B (Voltage), </a:t>
                      </a:r>
                      <a:r>
                        <a:rPr kumimoji="0" lang="en-US" sz="1600" b="0" i="0" u="none" strike="noStrike" kern="1200" baseline="0" dirty="0" smtClean="0">
                          <a:solidFill>
                            <a:schemeClr val="dk1"/>
                          </a:solidFill>
                          <a:latin typeface="Times New Roman" panose="02020603050405020304" pitchFamily="18" charset="0"/>
                          <a:ea typeface="+mn-ea"/>
                          <a:cs typeface="Times New Roman" panose="02020603050405020304" pitchFamily="18" charset="0"/>
                        </a:rPr>
                        <a:t>DS18B20 (Temp), ACS712 (Current), MPU-6050 (Gyroscope), TTL-RS485 (Later)	</a:t>
                      </a:r>
                    </a:p>
                    <a:p>
                      <a:endParaRPr lang="en-US" sz="1600"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3619609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C4BC763-87FF-1E8E-582F-1DB978058CD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FD2A4108-4B6A-D87C-1657-6F5A21FC2017}"/>
              </a:ext>
            </a:extLst>
          </p:cNvPr>
          <p:cNvSpPr>
            <a:spLocks noGrp="1"/>
          </p:cNvSpPr>
          <p:nvPr>
            <p:ph type="title"/>
          </p:nvPr>
        </p:nvSpPr>
        <p:spPr/>
        <p:txBody>
          <a:bodyPr/>
          <a:lstStyle/>
          <a:p>
            <a:r>
              <a:rPr lang="en-US" dirty="0"/>
              <a:t>Analysis</a:t>
            </a:r>
          </a:p>
        </p:txBody>
      </p:sp>
      <p:sp>
        <p:nvSpPr>
          <p:cNvPr id="4" name="Slide Number Placeholder 3">
            <a:extLst>
              <a:ext uri="{FF2B5EF4-FFF2-40B4-BE49-F238E27FC236}">
                <a16:creationId xmlns="" xmlns:a16="http://schemas.microsoft.com/office/drawing/2014/main" id="{BAF72648-5AF0-6D46-34F6-C1A99ED31021}"/>
              </a:ext>
            </a:extLst>
          </p:cNvPr>
          <p:cNvSpPr>
            <a:spLocks noGrp="1"/>
          </p:cNvSpPr>
          <p:nvPr>
            <p:ph type="sldNum" sz="quarter" idx="12"/>
          </p:nvPr>
        </p:nvSpPr>
        <p:spPr/>
        <p:txBody>
          <a:bodyPr/>
          <a:lstStyle/>
          <a:p>
            <a:fld id="{E9F1805E-8ECD-4665-ACF6-E4B39ECC81D8}" type="slidenum">
              <a:rPr lang="en-US" smtClean="0"/>
              <a:pPr/>
              <a:t>13</a:t>
            </a:fld>
            <a:endParaRPr lang="en-US"/>
          </a:p>
        </p:txBody>
      </p:sp>
      <p:sp>
        <p:nvSpPr>
          <p:cNvPr id="9" name="Footer Placeholder 2">
            <a:extLst>
              <a:ext uri="{FF2B5EF4-FFF2-40B4-BE49-F238E27FC236}">
                <a16:creationId xmlns="" xmlns:a16="http://schemas.microsoft.com/office/drawing/2014/main" id="{BCD4DB65-4F1D-3DAB-5AC7-F220512155EE}"/>
              </a:ext>
            </a:extLst>
          </p:cNvPr>
          <p:cNvSpPr>
            <a:spLocks noGrp="1"/>
          </p:cNvSpPr>
          <p:nvPr>
            <p:ph type="ftr" sz="quarter" idx="11"/>
          </p:nvPr>
        </p:nvSpPr>
        <p:spPr>
          <a:xfrm>
            <a:off x="5181600" y="6346402"/>
            <a:ext cx="3505200" cy="365125"/>
          </a:xfrm>
        </p:spPr>
        <p:txBody>
          <a:bodyPr/>
          <a:lstStyle/>
          <a:p>
            <a:r>
              <a:rPr lang="en-US" dirty="0"/>
              <a:t>Project Batch Number- 22</a:t>
            </a:r>
          </a:p>
        </p:txBody>
      </p:sp>
      <p:pic>
        <p:nvPicPr>
          <p:cNvPr id="2052" name="Picture 4">
            <a:extLst>
              <a:ext uri="{FF2B5EF4-FFF2-40B4-BE49-F238E27FC236}">
                <a16:creationId xmlns="" xmlns:a16="http://schemas.microsoft.com/office/drawing/2014/main" id="{BFB21769-A04E-06A0-FA40-FE7C6BE7E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95400"/>
            <a:ext cx="7916018" cy="4746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446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2CCBE9-5C0C-9533-45A2-55CF71E36F47}"/>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6018B049-2188-A90F-D4DF-B4C53478F190}"/>
              </a:ext>
            </a:extLst>
          </p:cNvPr>
          <p:cNvSpPr>
            <a:spLocks noGrp="1"/>
          </p:cNvSpPr>
          <p:nvPr>
            <p:ph type="title"/>
          </p:nvPr>
        </p:nvSpPr>
        <p:spPr/>
        <p:txBody>
          <a:bodyPr/>
          <a:lstStyle/>
          <a:p>
            <a:r>
              <a:rPr lang="en-US" dirty="0"/>
              <a:t>Analysis</a:t>
            </a:r>
          </a:p>
        </p:txBody>
      </p:sp>
      <p:sp>
        <p:nvSpPr>
          <p:cNvPr id="4" name="Slide Number Placeholder 3">
            <a:extLst>
              <a:ext uri="{FF2B5EF4-FFF2-40B4-BE49-F238E27FC236}">
                <a16:creationId xmlns="" xmlns:a16="http://schemas.microsoft.com/office/drawing/2014/main" id="{C4B31776-49F0-F737-8B94-A8F7D8BC5E3E}"/>
              </a:ext>
            </a:extLst>
          </p:cNvPr>
          <p:cNvSpPr>
            <a:spLocks noGrp="1"/>
          </p:cNvSpPr>
          <p:nvPr>
            <p:ph type="sldNum" sz="quarter" idx="12"/>
          </p:nvPr>
        </p:nvSpPr>
        <p:spPr/>
        <p:txBody>
          <a:bodyPr/>
          <a:lstStyle/>
          <a:p>
            <a:fld id="{E9F1805E-8ECD-4665-ACF6-E4B39ECC81D8}" type="slidenum">
              <a:rPr lang="en-US" smtClean="0"/>
              <a:pPr/>
              <a:t>14</a:t>
            </a:fld>
            <a:endParaRPr lang="en-US"/>
          </a:p>
        </p:txBody>
      </p:sp>
      <p:sp>
        <p:nvSpPr>
          <p:cNvPr id="9" name="Footer Placeholder 2">
            <a:extLst>
              <a:ext uri="{FF2B5EF4-FFF2-40B4-BE49-F238E27FC236}">
                <a16:creationId xmlns="" xmlns:a16="http://schemas.microsoft.com/office/drawing/2014/main" id="{5038FCA6-3F7F-9F27-E699-731F45059311}"/>
              </a:ext>
            </a:extLst>
          </p:cNvPr>
          <p:cNvSpPr>
            <a:spLocks noGrp="1"/>
          </p:cNvSpPr>
          <p:nvPr>
            <p:ph type="ftr" sz="quarter" idx="11"/>
          </p:nvPr>
        </p:nvSpPr>
        <p:spPr>
          <a:xfrm>
            <a:off x="5181600" y="6346402"/>
            <a:ext cx="3505200" cy="365125"/>
          </a:xfrm>
        </p:spPr>
        <p:txBody>
          <a:bodyPr/>
          <a:lstStyle/>
          <a:p>
            <a:r>
              <a:rPr lang="en-US" dirty="0"/>
              <a:t>Project Batch Number- 22</a:t>
            </a:r>
          </a:p>
        </p:txBody>
      </p:sp>
      <p:pic>
        <p:nvPicPr>
          <p:cNvPr id="3074" name="Picture 2">
            <a:extLst>
              <a:ext uri="{FF2B5EF4-FFF2-40B4-BE49-F238E27FC236}">
                <a16:creationId xmlns="" xmlns:a16="http://schemas.microsoft.com/office/drawing/2014/main" id="{3407A45F-8B23-D4CD-EDCC-F9592C7A6F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00" y="1168400"/>
            <a:ext cx="8509000" cy="4922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4234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78D87B4-4135-E3BB-0B7C-06057F21417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A3AD24A-26FC-D5EE-D3E0-C76FAF9DC8AC}"/>
              </a:ext>
            </a:extLst>
          </p:cNvPr>
          <p:cNvSpPr>
            <a:spLocks noGrp="1"/>
          </p:cNvSpPr>
          <p:nvPr>
            <p:ph type="title"/>
          </p:nvPr>
        </p:nvSpPr>
        <p:spPr/>
        <p:txBody>
          <a:bodyPr/>
          <a:lstStyle/>
          <a:p>
            <a:r>
              <a:rPr lang="en-US" dirty="0"/>
              <a:t>Analysis</a:t>
            </a:r>
          </a:p>
        </p:txBody>
      </p:sp>
      <p:sp>
        <p:nvSpPr>
          <p:cNvPr id="4" name="Slide Number Placeholder 3">
            <a:extLst>
              <a:ext uri="{FF2B5EF4-FFF2-40B4-BE49-F238E27FC236}">
                <a16:creationId xmlns="" xmlns:a16="http://schemas.microsoft.com/office/drawing/2014/main" id="{8162A1DE-3801-0028-4A51-4041950413E2}"/>
              </a:ext>
            </a:extLst>
          </p:cNvPr>
          <p:cNvSpPr>
            <a:spLocks noGrp="1"/>
          </p:cNvSpPr>
          <p:nvPr>
            <p:ph type="sldNum" sz="quarter" idx="12"/>
          </p:nvPr>
        </p:nvSpPr>
        <p:spPr/>
        <p:txBody>
          <a:bodyPr/>
          <a:lstStyle/>
          <a:p>
            <a:fld id="{E9F1805E-8ECD-4665-ACF6-E4B39ECC81D8}" type="slidenum">
              <a:rPr lang="en-US" smtClean="0"/>
              <a:pPr/>
              <a:t>15</a:t>
            </a:fld>
            <a:endParaRPr lang="en-US"/>
          </a:p>
        </p:txBody>
      </p:sp>
      <p:sp>
        <p:nvSpPr>
          <p:cNvPr id="9" name="Footer Placeholder 2">
            <a:extLst>
              <a:ext uri="{FF2B5EF4-FFF2-40B4-BE49-F238E27FC236}">
                <a16:creationId xmlns="" xmlns:a16="http://schemas.microsoft.com/office/drawing/2014/main" id="{AAE42B11-2C6C-B1E0-D0C4-A85E1A9180DB}"/>
              </a:ext>
            </a:extLst>
          </p:cNvPr>
          <p:cNvSpPr>
            <a:spLocks noGrp="1"/>
          </p:cNvSpPr>
          <p:nvPr>
            <p:ph type="ftr" sz="quarter" idx="11"/>
          </p:nvPr>
        </p:nvSpPr>
        <p:spPr>
          <a:xfrm>
            <a:off x="5181600" y="6346402"/>
            <a:ext cx="3505200" cy="365125"/>
          </a:xfrm>
        </p:spPr>
        <p:txBody>
          <a:bodyPr/>
          <a:lstStyle/>
          <a:p>
            <a:r>
              <a:rPr lang="en-US" dirty="0"/>
              <a:t>Project Batch Number- 22</a:t>
            </a:r>
          </a:p>
        </p:txBody>
      </p:sp>
      <p:graphicFrame>
        <p:nvGraphicFramePr>
          <p:cNvPr id="11" name="Table 10">
            <a:extLst>
              <a:ext uri="{FF2B5EF4-FFF2-40B4-BE49-F238E27FC236}">
                <a16:creationId xmlns="" xmlns:a16="http://schemas.microsoft.com/office/drawing/2014/main" id="{4E93A1E5-E7C2-FD08-28AD-EB1510E3D949}"/>
              </a:ext>
            </a:extLst>
          </p:cNvPr>
          <p:cNvGraphicFramePr>
            <a:graphicFrameLocks noGrp="1"/>
          </p:cNvGraphicFramePr>
          <p:nvPr>
            <p:extLst>
              <p:ext uri="{D42A27DB-BD31-4B8C-83A1-F6EECF244321}">
                <p14:modId xmlns:p14="http://schemas.microsoft.com/office/powerpoint/2010/main" val="3550755871"/>
              </p:ext>
            </p:extLst>
          </p:nvPr>
        </p:nvGraphicFramePr>
        <p:xfrm>
          <a:off x="533400" y="1295400"/>
          <a:ext cx="8229600" cy="4267200"/>
        </p:xfrm>
        <a:graphic>
          <a:graphicData uri="http://schemas.openxmlformats.org/drawingml/2006/table">
            <a:tbl>
              <a:tblPr/>
              <a:tblGrid>
                <a:gridCol w="4114800">
                  <a:extLst>
                    <a:ext uri="{9D8B030D-6E8A-4147-A177-3AD203B41FA5}">
                      <a16:colId xmlns="" xmlns:a16="http://schemas.microsoft.com/office/drawing/2014/main" val="3086592005"/>
                    </a:ext>
                  </a:extLst>
                </a:gridCol>
                <a:gridCol w="4114800">
                  <a:extLst>
                    <a:ext uri="{9D8B030D-6E8A-4147-A177-3AD203B41FA5}">
                      <a16:colId xmlns="" xmlns:a16="http://schemas.microsoft.com/office/drawing/2014/main" val="1435693022"/>
                    </a:ext>
                  </a:extLst>
                </a:gridCol>
              </a:tblGrid>
              <a:tr h="0">
                <a:tc>
                  <a:txBody>
                    <a:bodyPr/>
                    <a:lstStyle/>
                    <a:p>
                      <a:pPr algn="l">
                        <a:buNone/>
                      </a:pPr>
                      <a:r>
                        <a:rPr lang="en-IN" b="1" dirty="0">
                          <a:effectLst/>
                        </a:rPr>
                        <a:t>Feature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b="1">
                          <a:effectLst/>
                        </a:rPr>
                        <a:t>What It Detects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extLst>
                  <a:ext uri="{0D108BD9-81ED-4DB2-BD59-A6C34878D82A}">
                    <a16:rowId xmlns="" xmlns:a16="http://schemas.microsoft.com/office/drawing/2014/main" val="3949354133"/>
                  </a:ext>
                </a:extLst>
              </a:tr>
              <a:tr h="0">
                <a:tc>
                  <a:txBody>
                    <a:bodyPr/>
                    <a:lstStyle/>
                    <a:p>
                      <a:pPr algn="l">
                        <a:buNone/>
                      </a:pPr>
                      <a:r>
                        <a:rPr lang="en-IN">
                          <a:effectLst/>
                          <a:latin typeface="Times New Roman" panose="02020603050405020304" pitchFamily="18" charset="0"/>
                          <a:cs typeface="Times New Roman" panose="02020603050405020304" pitchFamily="18" charset="0"/>
                        </a:rPr>
                        <a:t>Temperature Mean/Peak</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dirty="0">
                          <a:effectLst/>
                          <a:latin typeface="Times New Roman" panose="02020603050405020304" pitchFamily="18" charset="0"/>
                          <a:cs typeface="Times New Roman" panose="02020603050405020304" pitchFamily="18" charset="0"/>
                        </a:rPr>
                        <a:t>Overheating, cooling system failure, overload</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 xmlns:a16="http://schemas.microsoft.com/office/drawing/2014/main" val="1158050849"/>
                  </a:ext>
                </a:extLst>
              </a:tr>
              <a:tr h="0">
                <a:tc>
                  <a:txBody>
                    <a:bodyPr/>
                    <a:lstStyle/>
                    <a:p>
                      <a:pPr algn="l">
                        <a:buNone/>
                      </a:pPr>
                      <a:r>
                        <a:rPr lang="en-IN">
                          <a:effectLst/>
                          <a:latin typeface="Times New Roman" panose="02020603050405020304" pitchFamily="18" charset="0"/>
                          <a:cs typeface="Times New Roman" panose="02020603050405020304" pitchFamily="18" charset="0"/>
                        </a:rPr>
                        <a:t>Temperature Std/Skewness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dirty="0">
                          <a:effectLst/>
                          <a:latin typeface="Times New Roman" panose="02020603050405020304" pitchFamily="18" charset="0"/>
                          <a:cs typeface="Times New Roman" panose="02020603050405020304" pitchFamily="18" charset="0"/>
                        </a:rPr>
                        <a:t>Unstable operation, intermittent faults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 xmlns:a16="http://schemas.microsoft.com/office/drawing/2014/main" val="1614427209"/>
                  </a:ext>
                </a:extLst>
              </a:tr>
              <a:tr h="0">
                <a:tc>
                  <a:txBody>
                    <a:bodyPr/>
                    <a:lstStyle/>
                    <a:p>
                      <a:pPr algn="l">
                        <a:buNone/>
                      </a:pPr>
                      <a:r>
                        <a:rPr lang="en-IN">
                          <a:effectLst/>
                          <a:latin typeface="Times New Roman" panose="02020603050405020304" pitchFamily="18" charset="0"/>
                          <a:cs typeface="Times New Roman" panose="02020603050405020304" pitchFamily="18" charset="0"/>
                        </a:rPr>
                        <a:t>Vibration Mean/RMS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dirty="0">
                          <a:effectLst/>
                          <a:latin typeface="Times New Roman" panose="02020603050405020304" pitchFamily="18" charset="0"/>
                          <a:cs typeface="Times New Roman" panose="02020603050405020304" pitchFamily="18" charset="0"/>
                        </a:rPr>
                        <a:t>Bearing wear, misalignment, rotor imbalance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 xmlns:a16="http://schemas.microsoft.com/office/drawing/2014/main" val="65675459"/>
                  </a:ext>
                </a:extLst>
              </a:tr>
              <a:tr h="0">
                <a:tc>
                  <a:txBody>
                    <a:bodyPr/>
                    <a:lstStyle/>
                    <a:p>
                      <a:pPr algn="l">
                        <a:buNone/>
                      </a:pPr>
                      <a:r>
                        <a:rPr lang="en-IN">
                          <a:effectLst/>
                          <a:latin typeface="Times New Roman" panose="02020603050405020304" pitchFamily="18" charset="0"/>
                          <a:cs typeface="Times New Roman" panose="02020603050405020304" pitchFamily="18" charset="0"/>
                        </a:rPr>
                        <a:t>Vibration Peak</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latin typeface="Times New Roman" panose="02020603050405020304" pitchFamily="18" charset="0"/>
                          <a:cs typeface="Times New Roman" panose="02020603050405020304" pitchFamily="18" charset="0"/>
                        </a:rPr>
                        <a:t>Mechanical shocks, loose parts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 xmlns:a16="http://schemas.microsoft.com/office/drawing/2014/main" val="4227837922"/>
                  </a:ext>
                </a:extLst>
              </a:tr>
              <a:tr h="0">
                <a:tc>
                  <a:txBody>
                    <a:bodyPr/>
                    <a:lstStyle/>
                    <a:p>
                      <a:pPr algn="l">
                        <a:buNone/>
                      </a:pPr>
                      <a:r>
                        <a:rPr lang="en-IN">
                          <a:effectLst/>
                          <a:latin typeface="Times New Roman" panose="02020603050405020304" pitchFamily="18" charset="0"/>
                          <a:cs typeface="Times New Roman" panose="02020603050405020304" pitchFamily="18" charset="0"/>
                        </a:rPr>
                        <a:t>Voltage Imbalance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a:effectLst/>
                          <a:latin typeface="Times New Roman" panose="02020603050405020304" pitchFamily="18" charset="0"/>
                          <a:cs typeface="Times New Roman" panose="02020603050405020304" pitchFamily="18" charset="0"/>
                        </a:rPr>
                        <a:t>Supply problems, phase loss, winding issues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 xmlns:a16="http://schemas.microsoft.com/office/drawing/2014/main" val="1569562110"/>
                  </a:ext>
                </a:extLst>
              </a:tr>
              <a:tr h="0">
                <a:tc>
                  <a:txBody>
                    <a:bodyPr/>
                    <a:lstStyle/>
                    <a:p>
                      <a:pPr algn="l">
                        <a:buNone/>
                      </a:pPr>
                      <a:r>
                        <a:rPr lang="en-IN">
                          <a:effectLst/>
                          <a:latin typeface="Times New Roman" panose="02020603050405020304" pitchFamily="18" charset="0"/>
                          <a:cs typeface="Times New Roman" panose="02020603050405020304" pitchFamily="18" charset="0"/>
                        </a:rPr>
                        <a:t>Current Imbalance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a:effectLst/>
                          <a:latin typeface="Times New Roman" panose="02020603050405020304" pitchFamily="18" charset="0"/>
                          <a:cs typeface="Times New Roman" panose="02020603050405020304" pitchFamily="18" charset="0"/>
                        </a:rPr>
                        <a:t>Rotor bar cracks, stator winding faults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 xmlns:a16="http://schemas.microsoft.com/office/drawing/2014/main" val="1464194880"/>
                  </a:ext>
                </a:extLst>
              </a:tr>
              <a:tr h="0">
                <a:tc>
                  <a:txBody>
                    <a:bodyPr/>
                    <a:lstStyle/>
                    <a:p>
                      <a:pPr algn="l">
                        <a:buNone/>
                      </a:pPr>
                      <a:r>
                        <a:rPr lang="en-IN" dirty="0">
                          <a:effectLst/>
                          <a:latin typeface="Times New Roman" panose="02020603050405020304" pitchFamily="18" charset="0"/>
                          <a:cs typeface="Times New Roman" panose="02020603050405020304" pitchFamily="18" charset="0"/>
                        </a:rPr>
                        <a:t>Kurtosis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dirty="0">
                          <a:effectLst/>
                          <a:latin typeface="Times New Roman" panose="02020603050405020304" pitchFamily="18" charset="0"/>
                          <a:cs typeface="Times New Roman" panose="02020603050405020304" pitchFamily="18" charset="0"/>
                        </a:rPr>
                        <a:t>Impulsive events (bearing spalls, tooth cracks)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 xmlns:a16="http://schemas.microsoft.com/office/drawing/2014/main" val="3323213280"/>
                  </a:ext>
                </a:extLst>
              </a:tr>
            </a:tbl>
          </a:graphicData>
        </a:graphic>
      </p:graphicFrame>
    </p:spTree>
    <p:extLst>
      <p:ext uri="{BB962C8B-B14F-4D97-AF65-F5344CB8AC3E}">
        <p14:creationId xmlns:p14="http://schemas.microsoft.com/office/powerpoint/2010/main" val="706936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D37ED25-C79F-5F43-4B48-C03E5739D830}"/>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65E7DFE-91C7-AA0F-F3F8-8A1E88E196A8}"/>
              </a:ext>
            </a:extLst>
          </p:cNvPr>
          <p:cNvSpPr>
            <a:spLocks noGrp="1"/>
          </p:cNvSpPr>
          <p:nvPr>
            <p:ph type="title"/>
          </p:nvPr>
        </p:nvSpPr>
        <p:spPr/>
        <p:txBody>
          <a:bodyPr/>
          <a:lstStyle/>
          <a:p>
            <a:r>
              <a:rPr lang="en-US" dirty="0"/>
              <a:t>Analysis</a:t>
            </a:r>
          </a:p>
        </p:txBody>
      </p:sp>
      <p:sp>
        <p:nvSpPr>
          <p:cNvPr id="4" name="Slide Number Placeholder 3">
            <a:extLst>
              <a:ext uri="{FF2B5EF4-FFF2-40B4-BE49-F238E27FC236}">
                <a16:creationId xmlns="" xmlns:a16="http://schemas.microsoft.com/office/drawing/2014/main" id="{439E8808-2C17-7EAA-D2A8-5FE7BE5364EF}"/>
              </a:ext>
            </a:extLst>
          </p:cNvPr>
          <p:cNvSpPr>
            <a:spLocks noGrp="1"/>
          </p:cNvSpPr>
          <p:nvPr>
            <p:ph type="sldNum" sz="quarter" idx="12"/>
          </p:nvPr>
        </p:nvSpPr>
        <p:spPr/>
        <p:txBody>
          <a:bodyPr/>
          <a:lstStyle/>
          <a:p>
            <a:fld id="{E9F1805E-8ECD-4665-ACF6-E4B39ECC81D8}" type="slidenum">
              <a:rPr lang="en-US" smtClean="0"/>
              <a:pPr/>
              <a:t>16</a:t>
            </a:fld>
            <a:endParaRPr lang="en-US"/>
          </a:p>
        </p:txBody>
      </p:sp>
      <p:sp>
        <p:nvSpPr>
          <p:cNvPr id="9" name="Footer Placeholder 2">
            <a:extLst>
              <a:ext uri="{FF2B5EF4-FFF2-40B4-BE49-F238E27FC236}">
                <a16:creationId xmlns="" xmlns:a16="http://schemas.microsoft.com/office/drawing/2014/main" id="{99DDE417-E57D-6F8C-2873-4C82D4E64BA2}"/>
              </a:ext>
            </a:extLst>
          </p:cNvPr>
          <p:cNvSpPr>
            <a:spLocks noGrp="1"/>
          </p:cNvSpPr>
          <p:nvPr>
            <p:ph type="ftr" sz="quarter" idx="11"/>
          </p:nvPr>
        </p:nvSpPr>
        <p:spPr>
          <a:xfrm>
            <a:off x="5181600" y="6346402"/>
            <a:ext cx="3505200" cy="365125"/>
          </a:xfrm>
        </p:spPr>
        <p:txBody>
          <a:bodyPr/>
          <a:lstStyle/>
          <a:p>
            <a:r>
              <a:rPr lang="en-US" dirty="0"/>
              <a:t>Project Batch Number- 22</a:t>
            </a:r>
          </a:p>
        </p:txBody>
      </p:sp>
      <p:pic>
        <p:nvPicPr>
          <p:cNvPr id="1026" name="Picture 2">
            <a:extLst>
              <a:ext uri="{FF2B5EF4-FFF2-40B4-BE49-F238E27FC236}">
                <a16:creationId xmlns="" xmlns:a16="http://schemas.microsoft.com/office/drawing/2014/main" id="{7F4BA9F4-140F-DB78-945B-4872EFA6FA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338649"/>
            <a:ext cx="1600200" cy="247862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 xmlns:a16="http://schemas.microsoft.com/office/drawing/2014/main" id="{B3217FB3-C1F9-006A-0FB1-EF81FF05EF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8256" y="1856091"/>
            <a:ext cx="6630287" cy="365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7754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4375"/>
          </a:xfrm>
        </p:spPr>
        <p:txBody>
          <a:bodyPr/>
          <a:lstStyle/>
          <a:p>
            <a:r>
              <a:rPr lang="en-US" dirty="0"/>
              <a:t>Analysis</a:t>
            </a:r>
          </a:p>
        </p:txBody>
      </p:sp>
      <p:sp>
        <p:nvSpPr>
          <p:cNvPr id="4" name="Slide Number Placeholder 3"/>
          <p:cNvSpPr>
            <a:spLocks noGrp="1"/>
          </p:cNvSpPr>
          <p:nvPr>
            <p:ph type="sldNum" sz="quarter" idx="12"/>
          </p:nvPr>
        </p:nvSpPr>
        <p:spPr/>
        <p:txBody>
          <a:bodyPr/>
          <a:lstStyle/>
          <a:p>
            <a:fld id="{E9F1805E-8ECD-4665-ACF6-E4B39ECC81D8}" type="slidenum">
              <a:rPr lang="en-US" smtClean="0"/>
              <a:pPr/>
              <a:t>17</a:t>
            </a:fld>
            <a:endParaRPr lang="en-US"/>
          </a:p>
        </p:txBody>
      </p:sp>
      <p:sp>
        <p:nvSpPr>
          <p:cNvPr id="5" name="Content Placeholder 4"/>
          <p:cNvSpPr>
            <a:spLocks noGrp="1"/>
          </p:cNvSpPr>
          <p:nvPr>
            <p:ph sz="quarter" idx="1"/>
          </p:nvPr>
        </p:nvSpPr>
        <p:spPr>
          <a:xfrm>
            <a:off x="381000" y="866775"/>
            <a:ext cx="8229600" cy="4937760"/>
          </a:xfrm>
        </p:spPr>
        <p:txBody>
          <a:bodyPr>
            <a:noAutofit/>
          </a:bodyPr>
          <a:lstStyle/>
          <a:p>
            <a:pPr marL="0" indent="0" algn="just">
              <a:buNone/>
            </a:pPr>
            <a:endParaRPr lang="en-IN" sz="1800" b="1"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Mean (Average): </a:t>
            </a:r>
            <a:r>
              <a:rPr lang="en-US" sz="1800" dirty="0">
                <a:latin typeface="Times New Roman" panose="02020603050405020304" pitchFamily="18" charset="0"/>
                <a:cs typeface="Times New Roman" panose="02020603050405020304" pitchFamily="18" charset="0"/>
              </a:rPr>
              <a:t>The mean represents the central tendency of the signal and provides a baseline reference for the sensor measurements. For temperature data, the mean indicates the average operating temperature of the motor.</a:t>
            </a:r>
            <a:endParaRPr lang="en-IN" sz="1800" dirty="0">
              <a:latin typeface="Times New Roman" panose="02020603050405020304" pitchFamily="18" charset="0"/>
              <a:cs typeface="Times New Roman" panose="02020603050405020304" pitchFamily="18" charset="0"/>
            </a:endParaRPr>
          </a:p>
          <a:p>
            <a:pPr lvl="1" algn="just"/>
            <a:r>
              <a:rPr lang="en-US" sz="1800" i="1" dirty="0">
                <a:latin typeface="Times New Roman" panose="02020603050405020304" pitchFamily="18" charset="0"/>
                <a:cs typeface="Times New Roman" panose="02020603050405020304" pitchFamily="18" charset="0"/>
              </a:rPr>
              <a:t>μ = (1/n) Σ xi</a:t>
            </a:r>
            <a:endParaRPr lang="en-IN" sz="1800"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r>
              <a:rPr lang="en-US" sz="1800" b="1" u="sng" dirty="0">
                <a:latin typeface="Times New Roman" panose="02020603050405020304" pitchFamily="18" charset="0"/>
                <a:cs typeface="Times New Roman" panose="02020603050405020304" pitchFamily="18" charset="0"/>
              </a:rPr>
              <a:t>Statistical Features</a:t>
            </a:r>
            <a:endParaRPr lang="en-IN" sz="1800" b="1" u="sng"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Standard Deviation: </a:t>
            </a:r>
            <a:r>
              <a:rPr lang="en-US" sz="1800" dirty="0">
                <a:latin typeface="Times New Roman" panose="02020603050405020304" pitchFamily="18" charset="0"/>
                <a:cs typeface="Times New Roman" panose="02020603050405020304" pitchFamily="18" charset="0"/>
              </a:rPr>
              <a:t>Standard deviation quantifies the amount of variation or dispersion in the sensor measurements. Higher standard deviation indicates greater variability, which may signal abnormal operating conditions or incipient faults.</a:t>
            </a:r>
            <a:endParaRPr lang="en-IN" sz="1800" dirty="0">
              <a:latin typeface="Times New Roman" panose="02020603050405020304" pitchFamily="18" charset="0"/>
              <a:cs typeface="Times New Roman" panose="02020603050405020304" pitchFamily="18" charset="0"/>
            </a:endParaRPr>
          </a:p>
          <a:p>
            <a:pPr lvl="1" algn="just"/>
            <a:r>
              <a:rPr lang="en-US" sz="1800" i="1" dirty="0">
                <a:latin typeface="Times New Roman" panose="02020603050405020304" pitchFamily="18" charset="0"/>
                <a:cs typeface="Times New Roman" panose="02020603050405020304" pitchFamily="18" charset="0"/>
              </a:rPr>
              <a:t>σ = √[(1/n) Σ(xi - μ)²]</a:t>
            </a:r>
          </a:p>
          <a:p>
            <a:pPr marL="274320" lvl="1" indent="0" algn="just">
              <a:buNone/>
            </a:pPr>
            <a:endParaRPr lang="en-IN" sz="1800"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Root Mean Square (RMS): </a:t>
            </a:r>
            <a:r>
              <a:rPr lang="en-US" sz="1800" dirty="0">
                <a:latin typeface="Times New Roman" panose="02020603050405020304" pitchFamily="18" charset="0"/>
                <a:cs typeface="Times New Roman" panose="02020603050405020304" pitchFamily="18" charset="0"/>
              </a:rPr>
              <a:t>RMS value represents the effective magnitude of a signal and is particularly useful for analyzing alternating current and vibration signals. It provides a measure of the signal's energy content.</a:t>
            </a:r>
            <a:endParaRPr lang="en-IN" sz="1800" dirty="0">
              <a:latin typeface="Times New Roman" panose="02020603050405020304" pitchFamily="18" charset="0"/>
              <a:cs typeface="Times New Roman" panose="02020603050405020304" pitchFamily="18" charset="0"/>
            </a:endParaRPr>
          </a:p>
          <a:p>
            <a:pPr lvl="1" algn="just"/>
            <a:r>
              <a:rPr lang="en-US" sz="1800" i="1" dirty="0">
                <a:latin typeface="Times New Roman" panose="02020603050405020304" pitchFamily="18" charset="0"/>
                <a:cs typeface="Times New Roman" panose="02020603050405020304" pitchFamily="18" charset="0"/>
              </a:rPr>
              <a:t>RMS = √[(1/n) Σ x_i²]</a:t>
            </a:r>
            <a:endParaRPr lang="en-IN" sz="1800" dirty="0">
              <a:latin typeface="Times New Roman" panose="02020603050405020304" pitchFamily="18" charset="0"/>
              <a:cs typeface="Times New Roman" panose="02020603050405020304" pitchFamily="18" charset="0"/>
            </a:endParaRPr>
          </a:p>
          <a:p>
            <a:pPr marL="0" indent="0" algn="just">
              <a:buNone/>
            </a:pPr>
            <a:endParaRPr lang="en-IN" sz="1800" dirty="0">
              <a:latin typeface="Times New Roman" panose="02020603050405020304" pitchFamily="18" charset="0"/>
              <a:cs typeface="Times New Roman" panose="02020603050405020304" pitchFamily="18" charset="0"/>
            </a:endParaRPr>
          </a:p>
        </p:txBody>
      </p:sp>
      <p:sp>
        <p:nvSpPr>
          <p:cNvPr id="8" name="Footer Placeholder 2">
            <a:extLst>
              <a:ext uri="{FF2B5EF4-FFF2-40B4-BE49-F238E27FC236}">
                <a16:creationId xmlns="" xmlns:a16="http://schemas.microsoft.com/office/drawing/2014/main" id="{6EE81481-DB8B-17D2-D219-457EA9F31457}"/>
              </a:ext>
            </a:extLst>
          </p:cNvPr>
          <p:cNvSpPr>
            <a:spLocks noGrp="1"/>
          </p:cNvSpPr>
          <p:nvPr>
            <p:ph type="ftr" sz="quarter" idx="11"/>
          </p:nvPr>
        </p:nvSpPr>
        <p:spPr>
          <a:xfrm>
            <a:off x="5181600" y="6356985"/>
            <a:ext cx="3505200" cy="365125"/>
          </a:xfrm>
        </p:spPr>
        <p:txBody>
          <a:bodyPr/>
          <a:lstStyle/>
          <a:p>
            <a:r>
              <a:rPr lang="en-US" dirty="0"/>
              <a:t>Project Batch Number- 22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a:t>
            </a:r>
          </a:p>
        </p:txBody>
      </p:sp>
      <p:sp>
        <p:nvSpPr>
          <p:cNvPr id="3" name="Footer Placeholder 2"/>
          <p:cNvSpPr>
            <a:spLocks noGrp="1"/>
          </p:cNvSpPr>
          <p:nvPr>
            <p:ph type="ftr" sz="quarter" idx="11"/>
          </p:nvPr>
        </p:nvSpPr>
        <p:spPr/>
        <p:txBody>
          <a:bodyPr/>
          <a:lstStyle/>
          <a:p>
            <a:r>
              <a:rPr lang="en-US" dirty="0"/>
              <a:t>Project Batch </a:t>
            </a:r>
            <a:r>
              <a:rPr lang="en-US" dirty="0" smtClean="0"/>
              <a:t>Number-22</a:t>
            </a:r>
            <a:endParaRPr lang="en-US" dirty="0"/>
          </a:p>
        </p:txBody>
      </p:sp>
      <p:sp>
        <p:nvSpPr>
          <p:cNvPr id="4" name="Slide Number Placeholder 3"/>
          <p:cNvSpPr>
            <a:spLocks noGrp="1"/>
          </p:cNvSpPr>
          <p:nvPr>
            <p:ph type="sldNum" sz="quarter" idx="12"/>
          </p:nvPr>
        </p:nvSpPr>
        <p:spPr/>
        <p:txBody>
          <a:bodyPr/>
          <a:lstStyle/>
          <a:p>
            <a:fld id="{E9F1805E-8ECD-4665-ACF6-E4B39ECC81D8}" type="slidenum">
              <a:rPr lang="en-US" smtClean="0"/>
              <a:pPr/>
              <a:t>18</a:t>
            </a:fld>
            <a:endParaRPr lang="en-US"/>
          </a:p>
        </p:txBody>
      </p:sp>
      <p:sp>
        <p:nvSpPr>
          <p:cNvPr id="5" name="Content Placeholder 4"/>
          <p:cNvSpPr>
            <a:spLocks noGrp="1"/>
          </p:cNvSpPr>
          <p:nvPr>
            <p:ph sz="quarter" idx="1"/>
          </p:nvPr>
        </p:nvSpPr>
        <p:spPr/>
        <p:txBody>
          <a:bodyPr>
            <a:normAutofit/>
          </a:bodyPr>
          <a:lstStyle/>
          <a:p>
            <a:r>
              <a:rPr lang="en-US" sz="1800" b="1" dirty="0">
                <a:latin typeface="Times New Roman" panose="02020603050405020304" pitchFamily="18" charset="0"/>
                <a:cs typeface="Times New Roman" panose="02020603050405020304" pitchFamily="18" charset="0"/>
              </a:rPr>
              <a:t>Kurtosis: </a:t>
            </a:r>
            <a:r>
              <a:rPr lang="en-US" sz="1800" dirty="0">
                <a:latin typeface="Times New Roman" panose="02020603050405020304" pitchFamily="18" charset="0"/>
                <a:cs typeface="Times New Roman" panose="02020603050405020304" pitchFamily="18" charset="0"/>
              </a:rPr>
              <a:t>Kurtosis measures the "</a:t>
            </a:r>
            <a:r>
              <a:rPr lang="en-US" sz="1800" dirty="0" err="1">
                <a:latin typeface="Times New Roman" panose="02020603050405020304" pitchFamily="18" charset="0"/>
                <a:cs typeface="Times New Roman" panose="02020603050405020304" pitchFamily="18" charset="0"/>
              </a:rPr>
              <a:t>tailedness</a:t>
            </a:r>
            <a:r>
              <a:rPr lang="en-US" sz="1800" dirty="0">
                <a:latin typeface="Times New Roman" panose="02020603050405020304" pitchFamily="18" charset="0"/>
                <a:cs typeface="Times New Roman" panose="02020603050405020304" pitchFamily="18" charset="0"/>
              </a:rPr>
              <a:t>" of the probability distribution and is sensitive to outliers and transient events. It is particularly useful for detecting bearing faults and other impulsive anomalies.</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Kurtosis = 3: Normal distribution (Gaussian)</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Kurtosis &gt; 3: Heavy tails, indicating presence of extreme values or spikes</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Kurtosis &lt; 3: Light tails, indicating a more uniform distribution</a:t>
            </a: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Skewness: </a:t>
            </a:r>
            <a:r>
              <a:rPr lang="en-US" sz="1800" dirty="0">
                <a:latin typeface="Times New Roman" panose="02020603050405020304" pitchFamily="18" charset="0"/>
                <a:cs typeface="Times New Roman" panose="02020603050405020304" pitchFamily="18" charset="0"/>
              </a:rPr>
              <a:t>Skewness measures the asymmetry of the probability distribution. It indicates whether the data is skewed toward higher or lower values relative to the mean.</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Skewness = 0: Symmetric distribution (balanced)</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Skewness &lt; 0: Left-skewed (tail extends toward lower values)</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Skewness &gt; 0: Right-skewed (tail extends toward higher values)</a:t>
            </a:r>
            <a:endParaRPr lang="en-IN" sz="1800" dirty="0">
              <a:latin typeface="Times New Roman" panose="02020603050405020304" pitchFamily="18" charset="0"/>
              <a:cs typeface="Times New Roman" panose="02020603050405020304" pitchFamily="18" charset="0"/>
            </a:endParaRPr>
          </a:p>
          <a:p>
            <a:endParaRPr lang="en-US" sz="1800" dirty="0"/>
          </a:p>
        </p:txBody>
      </p:sp>
    </p:spTree>
    <p:extLst>
      <p:ext uri="{BB962C8B-B14F-4D97-AF65-F5344CB8AC3E}">
        <p14:creationId xmlns:p14="http://schemas.microsoft.com/office/powerpoint/2010/main" val="8686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651868F-F0BA-D48D-8C39-9AC91CEBEBC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BBE539BA-2430-56AE-C35C-E2C3C871F12D}"/>
              </a:ext>
            </a:extLst>
          </p:cNvPr>
          <p:cNvSpPr>
            <a:spLocks noGrp="1"/>
          </p:cNvSpPr>
          <p:nvPr>
            <p:ph type="title"/>
          </p:nvPr>
        </p:nvSpPr>
        <p:spPr/>
        <p:txBody>
          <a:bodyPr/>
          <a:lstStyle/>
          <a:p>
            <a:r>
              <a:rPr lang="en-US" dirty="0"/>
              <a:t>Analysis</a:t>
            </a:r>
          </a:p>
        </p:txBody>
      </p:sp>
      <p:sp>
        <p:nvSpPr>
          <p:cNvPr id="4" name="Slide Number Placeholder 3">
            <a:extLst>
              <a:ext uri="{FF2B5EF4-FFF2-40B4-BE49-F238E27FC236}">
                <a16:creationId xmlns="" xmlns:a16="http://schemas.microsoft.com/office/drawing/2014/main" id="{1D3197F4-E576-6DAD-534E-EA8E67C56FBB}"/>
              </a:ext>
            </a:extLst>
          </p:cNvPr>
          <p:cNvSpPr>
            <a:spLocks noGrp="1"/>
          </p:cNvSpPr>
          <p:nvPr>
            <p:ph type="sldNum" sz="quarter" idx="12"/>
          </p:nvPr>
        </p:nvSpPr>
        <p:spPr/>
        <p:txBody>
          <a:bodyPr/>
          <a:lstStyle/>
          <a:p>
            <a:fld id="{E9F1805E-8ECD-4665-ACF6-E4B39ECC81D8}" type="slidenum">
              <a:rPr lang="en-US" smtClean="0"/>
              <a:pPr/>
              <a:t>19</a:t>
            </a:fld>
            <a:endParaRPr lang="en-US"/>
          </a:p>
        </p:txBody>
      </p:sp>
      <p:sp>
        <p:nvSpPr>
          <p:cNvPr id="9" name="Footer Placeholder 2">
            <a:extLst>
              <a:ext uri="{FF2B5EF4-FFF2-40B4-BE49-F238E27FC236}">
                <a16:creationId xmlns="" xmlns:a16="http://schemas.microsoft.com/office/drawing/2014/main" id="{4A14A1B4-BAB5-D5FD-CB03-8E4CE9F2FA9E}"/>
              </a:ext>
            </a:extLst>
          </p:cNvPr>
          <p:cNvSpPr>
            <a:spLocks noGrp="1"/>
          </p:cNvSpPr>
          <p:nvPr>
            <p:ph type="ftr" sz="quarter" idx="11"/>
          </p:nvPr>
        </p:nvSpPr>
        <p:spPr>
          <a:xfrm>
            <a:off x="5181600" y="6346402"/>
            <a:ext cx="3505200" cy="365125"/>
          </a:xfrm>
        </p:spPr>
        <p:txBody>
          <a:bodyPr/>
          <a:lstStyle/>
          <a:p>
            <a:r>
              <a:rPr lang="en-US" dirty="0"/>
              <a:t>Project Batch Number- 22</a:t>
            </a:r>
          </a:p>
        </p:txBody>
      </p:sp>
      <p:sp>
        <p:nvSpPr>
          <p:cNvPr id="5" name="TextBox 4">
            <a:extLst>
              <a:ext uri="{FF2B5EF4-FFF2-40B4-BE49-F238E27FC236}">
                <a16:creationId xmlns="" xmlns:a16="http://schemas.microsoft.com/office/drawing/2014/main" id="{DCBB3D48-F984-D73F-6DA9-DA3F59E7EA4A}"/>
              </a:ext>
            </a:extLst>
          </p:cNvPr>
          <p:cNvSpPr txBox="1"/>
          <p:nvPr/>
        </p:nvSpPr>
        <p:spPr>
          <a:xfrm>
            <a:off x="381000" y="1066800"/>
            <a:ext cx="8305800" cy="5449697"/>
          </a:xfrm>
          <a:prstGeom prst="rect">
            <a:avLst/>
          </a:prstGeom>
          <a:noFill/>
        </p:spPr>
        <p:txBody>
          <a:bodyPr wrap="square">
            <a:spAutoFit/>
          </a:bodyPr>
          <a:lstStyle/>
          <a:p>
            <a:pPr>
              <a:lnSpc>
                <a:spcPct val="115000"/>
              </a:lnSpc>
              <a:spcAft>
                <a:spcPts val="1000"/>
              </a:spcAft>
            </a:pPr>
            <a:r>
              <a:rPr lang="en-US" b="1" dirty="0">
                <a:effectLst/>
                <a:latin typeface="Times New Roman" panose="02020603050405020304" pitchFamily="18" charset="0"/>
                <a:ea typeface="MS Mincho" panose="02020609040205080304" pitchFamily="49" charset="-128"/>
                <a:cs typeface="Times New Roman" panose="02020603050405020304" pitchFamily="18" charset="0"/>
              </a:rPr>
              <a:t>Bearing Characteristic Frequencies:</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tabLst>
                <a:tab pos="228600" algn="l"/>
              </a:tabLst>
            </a:pPr>
            <a:r>
              <a:rPr lang="en-US" dirty="0" err="1">
                <a:effectLst/>
                <a:latin typeface="Times New Roman" panose="02020603050405020304" pitchFamily="18" charset="0"/>
                <a:ea typeface="MS Mincho" panose="02020609040205080304" pitchFamily="49" charset="-128"/>
                <a:cs typeface="Times New Roman" panose="02020603050405020304" pitchFamily="18" charset="0"/>
              </a:rPr>
              <a:t>N_b</a:t>
            </a:r>
            <a:r>
              <a:rPr lang="en-US" dirty="0">
                <a:effectLst/>
                <a:latin typeface="Times New Roman" panose="02020603050405020304" pitchFamily="18" charset="0"/>
                <a:ea typeface="MS Mincho" panose="02020609040205080304" pitchFamily="49" charset="-128"/>
                <a:cs typeface="Times New Roman" panose="02020603050405020304" pitchFamily="18" charset="0"/>
              </a:rPr>
              <a:t> = Number of balls or rollers in the bearing</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tabLst>
                <a:tab pos="228600" algn="l"/>
              </a:tabLst>
            </a:pPr>
            <a:r>
              <a:rPr lang="en-US" dirty="0">
                <a:effectLst/>
                <a:latin typeface="Times New Roman" panose="02020603050405020304" pitchFamily="18" charset="0"/>
                <a:ea typeface="MS Mincho" panose="02020609040205080304" pitchFamily="49" charset="-128"/>
                <a:cs typeface="Times New Roman" panose="02020603050405020304" pitchFamily="18" charset="0"/>
              </a:rPr>
              <a:t>d = Ball diameter (mm)</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tabLst>
                <a:tab pos="228600" algn="l"/>
              </a:tabLst>
            </a:pPr>
            <a:r>
              <a:rPr lang="en-US" dirty="0">
                <a:effectLst/>
                <a:latin typeface="Times New Roman" panose="02020603050405020304" pitchFamily="18" charset="0"/>
                <a:ea typeface="MS Mincho" panose="02020609040205080304" pitchFamily="49" charset="-128"/>
                <a:cs typeface="Times New Roman" panose="02020603050405020304" pitchFamily="18" charset="0"/>
              </a:rPr>
              <a:t>D = Pitch diameter (mm)</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tabLst>
                <a:tab pos="228600" algn="l"/>
              </a:tabLst>
            </a:pPr>
            <a:r>
              <a:rPr lang="en-US" dirty="0">
                <a:effectLst/>
                <a:latin typeface="Times New Roman" panose="02020603050405020304" pitchFamily="18" charset="0"/>
                <a:ea typeface="MS Mincho" panose="02020609040205080304" pitchFamily="49" charset="-128"/>
                <a:cs typeface="Times New Roman" panose="02020603050405020304" pitchFamily="18" charset="0"/>
              </a:rPr>
              <a:t>α = Contact angle (degrees)</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tabLst>
                <a:tab pos="228600" algn="l"/>
              </a:tabLst>
            </a:pPr>
            <a:r>
              <a:rPr lang="en-US" dirty="0" err="1">
                <a:effectLst/>
                <a:latin typeface="Times New Roman" panose="02020603050405020304" pitchFamily="18" charset="0"/>
                <a:ea typeface="MS Mincho" panose="02020609040205080304" pitchFamily="49" charset="-128"/>
                <a:cs typeface="Times New Roman" panose="02020603050405020304" pitchFamily="18" charset="0"/>
              </a:rPr>
              <a:t>f_s</a:t>
            </a:r>
            <a:r>
              <a:rPr lang="en-US" dirty="0">
                <a:effectLst/>
                <a:latin typeface="Times New Roman" panose="02020603050405020304" pitchFamily="18" charset="0"/>
                <a:ea typeface="MS Mincho" panose="02020609040205080304" pitchFamily="49" charset="-128"/>
                <a:cs typeface="Times New Roman" panose="02020603050405020304" pitchFamily="18" charset="0"/>
              </a:rPr>
              <a:t> = Shaft rotation frequency (Hz)</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b="1" dirty="0">
                <a:effectLst/>
                <a:latin typeface="Times New Roman" panose="02020603050405020304" pitchFamily="18" charset="0"/>
                <a:ea typeface="MS Mincho" panose="02020609040205080304" pitchFamily="49" charset="-128"/>
                <a:cs typeface="Times New Roman" panose="02020603050405020304" pitchFamily="18" charset="0"/>
              </a:rPr>
              <a:t>Ball Pass Frequency Outer Race (BPFO):</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algn="ctr">
              <a:lnSpc>
                <a:spcPct val="115000"/>
              </a:lnSpc>
              <a:spcAft>
                <a:spcPts val="1000"/>
              </a:spcAft>
              <a:buNone/>
            </a:pPr>
            <a:r>
              <a:rPr lang="en-US" i="1" dirty="0" err="1">
                <a:effectLst/>
                <a:latin typeface="Times New Roman" panose="02020603050405020304" pitchFamily="18" charset="0"/>
                <a:ea typeface="MS Mincho" panose="02020609040205080304" pitchFamily="49" charset="-128"/>
                <a:cs typeface="Times New Roman" panose="02020603050405020304" pitchFamily="18" charset="0"/>
              </a:rPr>
              <a:t>f_BPFO</a:t>
            </a:r>
            <a:r>
              <a:rPr lang="en-US" i="1" dirty="0">
                <a:effectLst/>
                <a:latin typeface="Times New Roman" panose="02020603050405020304" pitchFamily="18" charset="0"/>
                <a:ea typeface="MS Mincho" panose="02020609040205080304" pitchFamily="49" charset="-128"/>
                <a:cs typeface="Times New Roman" panose="02020603050405020304" pitchFamily="18" charset="0"/>
              </a:rPr>
              <a:t> = (</a:t>
            </a:r>
            <a:r>
              <a:rPr lang="en-US" i="1" dirty="0" err="1">
                <a:effectLst/>
                <a:latin typeface="Times New Roman" panose="02020603050405020304" pitchFamily="18" charset="0"/>
                <a:ea typeface="MS Mincho" panose="02020609040205080304" pitchFamily="49" charset="-128"/>
                <a:cs typeface="Times New Roman" panose="02020603050405020304" pitchFamily="18" charset="0"/>
              </a:rPr>
              <a:t>N_b</a:t>
            </a:r>
            <a:r>
              <a:rPr lang="en-US" i="1" dirty="0">
                <a:effectLst/>
                <a:latin typeface="Times New Roman" panose="02020603050405020304" pitchFamily="18" charset="0"/>
                <a:ea typeface="MS Mincho" panose="02020609040205080304" pitchFamily="49" charset="-128"/>
                <a:cs typeface="Times New Roman" panose="02020603050405020304" pitchFamily="18" charset="0"/>
              </a:rPr>
              <a:t> × </a:t>
            </a:r>
            <a:r>
              <a:rPr lang="en-US" i="1" dirty="0" err="1">
                <a:effectLst/>
                <a:latin typeface="Times New Roman" panose="02020603050405020304" pitchFamily="18" charset="0"/>
                <a:ea typeface="MS Mincho" panose="02020609040205080304" pitchFamily="49" charset="-128"/>
                <a:cs typeface="Times New Roman" panose="02020603050405020304" pitchFamily="18" charset="0"/>
              </a:rPr>
              <a:t>f_s</a:t>
            </a:r>
            <a:r>
              <a:rPr lang="en-US" i="1" dirty="0">
                <a:effectLst/>
                <a:latin typeface="Times New Roman" panose="02020603050405020304" pitchFamily="18" charset="0"/>
                <a:ea typeface="MS Mincho" panose="02020609040205080304" pitchFamily="49" charset="-128"/>
                <a:cs typeface="Times New Roman" panose="02020603050405020304" pitchFamily="18" charset="0"/>
              </a:rPr>
              <a:t> / 2) × (1 - (d/D) × cos(α))</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dirty="0">
                <a:effectLst/>
                <a:latin typeface="Times New Roman" panose="02020603050405020304" pitchFamily="18" charset="0"/>
                <a:ea typeface="MS Mincho" panose="02020609040205080304" pitchFamily="49" charset="-128"/>
                <a:cs typeface="Times New Roman" panose="02020603050405020304" pitchFamily="18" charset="0"/>
              </a:rPr>
              <a:t>This frequency represents the rate at which rolling elements pass over a defect on the outer race of the bearing.</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b="1" dirty="0">
                <a:effectLst/>
                <a:latin typeface="Times New Roman" panose="02020603050405020304" pitchFamily="18" charset="0"/>
                <a:ea typeface="MS Mincho" panose="02020609040205080304" pitchFamily="49" charset="-128"/>
                <a:cs typeface="Times New Roman" panose="02020603050405020304" pitchFamily="18" charset="0"/>
              </a:rPr>
              <a:t>Ball Pass Frequency Inner Race (BPFI):</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algn="ctr">
              <a:lnSpc>
                <a:spcPct val="115000"/>
              </a:lnSpc>
              <a:spcAft>
                <a:spcPts val="1000"/>
              </a:spcAft>
              <a:buNone/>
            </a:pPr>
            <a:r>
              <a:rPr lang="en-US" i="1" dirty="0" err="1">
                <a:effectLst/>
                <a:latin typeface="Times New Roman" panose="02020603050405020304" pitchFamily="18" charset="0"/>
                <a:ea typeface="MS Mincho" panose="02020609040205080304" pitchFamily="49" charset="-128"/>
                <a:cs typeface="Times New Roman" panose="02020603050405020304" pitchFamily="18" charset="0"/>
              </a:rPr>
              <a:t>f_BPFI</a:t>
            </a:r>
            <a:r>
              <a:rPr lang="en-US" i="1" dirty="0">
                <a:effectLst/>
                <a:latin typeface="Times New Roman" panose="02020603050405020304" pitchFamily="18" charset="0"/>
                <a:ea typeface="MS Mincho" panose="02020609040205080304" pitchFamily="49" charset="-128"/>
                <a:cs typeface="Times New Roman" panose="02020603050405020304" pitchFamily="18" charset="0"/>
              </a:rPr>
              <a:t> = (</a:t>
            </a:r>
            <a:r>
              <a:rPr lang="en-US" i="1" dirty="0" err="1">
                <a:effectLst/>
                <a:latin typeface="Times New Roman" panose="02020603050405020304" pitchFamily="18" charset="0"/>
                <a:ea typeface="MS Mincho" panose="02020609040205080304" pitchFamily="49" charset="-128"/>
                <a:cs typeface="Times New Roman" panose="02020603050405020304" pitchFamily="18" charset="0"/>
              </a:rPr>
              <a:t>N_b</a:t>
            </a:r>
            <a:r>
              <a:rPr lang="en-US" i="1" dirty="0">
                <a:effectLst/>
                <a:latin typeface="Times New Roman" panose="02020603050405020304" pitchFamily="18" charset="0"/>
                <a:ea typeface="MS Mincho" panose="02020609040205080304" pitchFamily="49" charset="-128"/>
                <a:cs typeface="Times New Roman" panose="02020603050405020304" pitchFamily="18" charset="0"/>
              </a:rPr>
              <a:t> × </a:t>
            </a:r>
            <a:r>
              <a:rPr lang="en-US" i="1" dirty="0" err="1">
                <a:effectLst/>
                <a:latin typeface="Times New Roman" panose="02020603050405020304" pitchFamily="18" charset="0"/>
                <a:ea typeface="MS Mincho" panose="02020609040205080304" pitchFamily="49" charset="-128"/>
                <a:cs typeface="Times New Roman" panose="02020603050405020304" pitchFamily="18" charset="0"/>
              </a:rPr>
              <a:t>f_s</a:t>
            </a:r>
            <a:r>
              <a:rPr lang="en-US" i="1" dirty="0">
                <a:effectLst/>
                <a:latin typeface="Times New Roman" panose="02020603050405020304" pitchFamily="18" charset="0"/>
                <a:ea typeface="MS Mincho" panose="02020609040205080304" pitchFamily="49" charset="-128"/>
                <a:cs typeface="Times New Roman" panose="02020603050405020304" pitchFamily="18" charset="0"/>
              </a:rPr>
              <a:t> / 2) × (1 + (d/D) × cos(α))</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dirty="0">
                <a:effectLst/>
                <a:latin typeface="Times New Roman" panose="02020603050405020304" pitchFamily="18" charset="0"/>
                <a:ea typeface="MS Mincho" panose="02020609040205080304" pitchFamily="49" charset="-128"/>
                <a:cs typeface="Times New Roman" panose="02020603050405020304" pitchFamily="18" charset="0"/>
              </a:rPr>
              <a:t>This frequency represents the rate at which rolling elements pass over a defect on the inner race.</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631549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a:t>
            </a:r>
          </a:p>
        </p:txBody>
      </p:sp>
      <p:sp>
        <p:nvSpPr>
          <p:cNvPr id="3" name="Footer Placeholder 2"/>
          <p:cNvSpPr>
            <a:spLocks noGrp="1"/>
          </p:cNvSpPr>
          <p:nvPr>
            <p:ph type="ftr" sz="quarter" idx="11"/>
          </p:nvPr>
        </p:nvSpPr>
        <p:spPr/>
        <p:txBody>
          <a:bodyPr/>
          <a:lstStyle/>
          <a:p>
            <a:r>
              <a:rPr lang="en-US" dirty="0"/>
              <a:t>Project Batch </a:t>
            </a:r>
            <a:r>
              <a:rPr lang="en-US" dirty="0" smtClean="0"/>
              <a:t>Number-22</a:t>
            </a:r>
          </a:p>
          <a:p>
            <a:endParaRPr lang="en-US" dirty="0"/>
          </a:p>
        </p:txBody>
      </p:sp>
      <p:sp>
        <p:nvSpPr>
          <p:cNvPr id="4" name="Slide Number Placeholder 3"/>
          <p:cNvSpPr>
            <a:spLocks noGrp="1"/>
          </p:cNvSpPr>
          <p:nvPr>
            <p:ph type="sldNum" sz="quarter" idx="12"/>
          </p:nvPr>
        </p:nvSpPr>
        <p:spPr/>
        <p:txBody>
          <a:bodyPr/>
          <a:lstStyle/>
          <a:p>
            <a:fld id="{E9F1805E-8ECD-4665-ACF6-E4B39ECC81D8}" type="slidenum">
              <a:rPr lang="en-US" smtClean="0"/>
              <a:pPr/>
              <a:t>20</a:t>
            </a:fld>
            <a:endParaRPr lang="en-US"/>
          </a:p>
        </p:txBody>
      </p:sp>
      <p:sp>
        <p:nvSpPr>
          <p:cNvPr id="5" name="Content Placeholder 4"/>
          <p:cNvSpPr>
            <a:spLocks noGrp="1"/>
          </p:cNvSpPr>
          <p:nvPr>
            <p:ph sz="quarter" idx="1"/>
          </p:nvPr>
        </p:nvSpPr>
        <p:spPr/>
        <p:txBody>
          <a:bodyPr>
            <a:normAutofit/>
          </a:bodyPr>
          <a:lstStyle/>
          <a:p>
            <a:pPr>
              <a:lnSpc>
                <a:spcPct val="115000"/>
              </a:lnSpc>
              <a:spcAft>
                <a:spcPts val="1000"/>
              </a:spcAft>
            </a:pPr>
            <a:r>
              <a:rPr lang="en-US" sz="1800" b="1" dirty="0">
                <a:latin typeface="Times New Roman" panose="02020603050405020304" pitchFamily="18" charset="0"/>
                <a:ea typeface="MS Mincho" panose="02020609040205080304" pitchFamily="49" charset="-128"/>
                <a:cs typeface="Times New Roman" panose="02020603050405020304" pitchFamily="18" charset="0"/>
              </a:rPr>
              <a:t>Ball Spin Frequency (BSF):</a:t>
            </a:r>
            <a:endParaRPr lang="en-IN" sz="1800" dirty="0">
              <a:latin typeface="Times New Roman" panose="02020603050405020304" pitchFamily="18" charset="0"/>
              <a:ea typeface="MS Mincho" panose="02020609040205080304" pitchFamily="49" charset="-128"/>
              <a:cs typeface="Times New Roman" panose="02020603050405020304" pitchFamily="18" charset="0"/>
            </a:endParaRPr>
          </a:p>
          <a:p>
            <a:pPr algn="ctr">
              <a:lnSpc>
                <a:spcPct val="115000"/>
              </a:lnSpc>
              <a:spcAft>
                <a:spcPts val="1000"/>
              </a:spcAft>
              <a:buNone/>
            </a:pPr>
            <a:r>
              <a:rPr lang="en-US" sz="1800" i="1" dirty="0" err="1">
                <a:latin typeface="Times New Roman" panose="02020603050405020304" pitchFamily="18" charset="0"/>
                <a:ea typeface="MS Mincho" panose="02020609040205080304" pitchFamily="49" charset="-128"/>
                <a:cs typeface="Times New Roman" panose="02020603050405020304" pitchFamily="18" charset="0"/>
              </a:rPr>
              <a:t>f_BSF</a:t>
            </a:r>
            <a:r>
              <a:rPr lang="en-US" sz="1800" i="1" dirty="0">
                <a:latin typeface="Times New Roman" panose="02020603050405020304" pitchFamily="18" charset="0"/>
                <a:ea typeface="MS Mincho" panose="02020609040205080304" pitchFamily="49" charset="-128"/>
                <a:cs typeface="Times New Roman" panose="02020603050405020304" pitchFamily="18" charset="0"/>
              </a:rPr>
              <a:t> = (D × </a:t>
            </a:r>
            <a:r>
              <a:rPr lang="en-US" sz="1800" i="1" dirty="0" err="1">
                <a:latin typeface="Times New Roman" panose="02020603050405020304" pitchFamily="18" charset="0"/>
                <a:ea typeface="MS Mincho" panose="02020609040205080304" pitchFamily="49" charset="-128"/>
                <a:cs typeface="Times New Roman" panose="02020603050405020304" pitchFamily="18" charset="0"/>
              </a:rPr>
              <a:t>f_s</a:t>
            </a:r>
            <a:r>
              <a:rPr lang="en-US" sz="1800" i="1" dirty="0">
                <a:latin typeface="Times New Roman" panose="02020603050405020304" pitchFamily="18" charset="0"/>
                <a:ea typeface="MS Mincho" panose="02020609040205080304" pitchFamily="49" charset="-128"/>
                <a:cs typeface="Times New Roman" panose="02020603050405020304" pitchFamily="18" charset="0"/>
              </a:rPr>
              <a:t> / 2d) × [1 - ((d/D) × cos(α))²]</a:t>
            </a:r>
            <a:endParaRPr lang="en-IN" sz="1800" dirty="0">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1800" dirty="0">
                <a:latin typeface="Times New Roman" panose="02020603050405020304" pitchFamily="18" charset="0"/>
                <a:ea typeface="MS Mincho" panose="02020609040205080304" pitchFamily="49" charset="-128"/>
                <a:cs typeface="Times New Roman" panose="02020603050405020304" pitchFamily="18" charset="0"/>
              </a:rPr>
              <a:t>This frequency corresponds to the rotation of the rolling elements themselves.</a:t>
            </a:r>
            <a:endParaRPr lang="en-IN" sz="1800" dirty="0">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pPr>
            <a:r>
              <a:rPr lang="en-US" sz="1800" b="1" dirty="0">
                <a:latin typeface="Times New Roman" panose="02020603050405020304" pitchFamily="18" charset="0"/>
                <a:ea typeface="MS Mincho" panose="02020609040205080304" pitchFamily="49" charset="-128"/>
                <a:cs typeface="Times New Roman" panose="02020603050405020304" pitchFamily="18" charset="0"/>
              </a:rPr>
              <a:t>Fundamental Train Frequency (FTF) or Cage Frequency:</a:t>
            </a:r>
            <a:endParaRPr lang="en-IN" sz="1800" dirty="0">
              <a:latin typeface="Times New Roman" panose="02020603050405020304" pitchFamily="18" charset="0"/>
              <a:ea typeface="MS Mincho" panose="02020609040205080304" pitchFamily="49" charset="-128"/>
              <a:cs typeface="Times New Roman" panose="02020603050405020304" pitchFamily="18" charset="0"/>
            </a:endParaRPr>
          </a:p>
          <a:p>
            <a:pPr algn="ctr">
              <a:lnSpc>
                <a:spcPct val="115000"/>
              </a:lnSpc>
              <a:spcAft>
                <a:spcPts val="1000"/>
              </a:spcAft>
              <a:buNone/>
            </a:pPr>
            <a:r>
              <a:rPr lang="en-US" sz="1800" i="1" dirty="0" err="1">
                <a:latin typeface="Times New Roman" panose="02020603050405020304" pitchFamily="18" charset="0"/>
                <a:ea typeface="MS Mincho" panose="02020609040205080304" pitchFamily="49" charset="-128"/>
                <a:cs typeface="Times New Roman" panose="02020603050405020304" pitchFamily="18" charset="0"/>
              </a:rPr>
              <a:t>f_FTF</a:t>
            </a:r>
            <a:r>
              <a:rPr lang="en-US" sz="1800" i="1" dirty="0">
                <a:latin typeface="Times New Roman" panose="02020603050405020304" pitchFamily="18" charset="0"/>
                <a:ea typeface="MS Mincho" panose="02020609040205080304" pitchFamily="49" charset="-128"/>
                <a:cs typeface="Times New Roman" panose="02020603050405020304" pitchFamily="18" charset="0"/>
              </a:rPr>
              <a:t> = (</a:t>
            </a:r>
            <a:r>
              <a:rPr lang="en-US" sz="1800" i="1" dirty="0" err="1">
                <a:latin typeface="Times New Roman" panose="02020603050405020304" pitchFamily="18" charset="0"/>
                <a:ea typeface="MS Mincho" panose="02020609040205080304" pitchFamily="49" charset="-128"/>
                <a:cs typeface="Times New Roman" panose="02020603050405020304" pitchFamily="18" charset="0"/>
              </a:rPr>
              <a:t>f_s</a:t>
            </a:r>
            <a:r>
              <a:rPr lang="en-US" sz="1800" i="1" dirty="0">
                <a:latin typeface="Times New Roman" panose="02020603050405020304" pitchFamily="18" charset="0"/>
                <a:ea typeface="MS Mincho" panose="02020609040205080304" pitchFamily="49" charset="-128"/>
                <a:cs typeface="Times New Roman" panose="02020603050405020304" pitchFamily="18" charset="0"/>
              </a:rPr>
              <a:t> / 2) × (1 - (d/D) × cos(α))</a:t>
            </a:r>
            <a:endParaRPr lang="en-IN" sz="1800" dirty="0">
              <a:latin typeface="Times New Roman" panose="02020603050405020304" pitchFamily="18" charset="0"/>
              <a:ea typeface="MS Mincho" panose="02020609040205080304" pitchFamily="49" charset="-128"/>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503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7F88821-5CAF-BD0F-2E85-A00F5578AB2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A0D0CA6-ECE1-8CB0-E2CE-96B0A2593C55}"/>
              </a:ext>
            </a:extLst>
          </p:cNvPr>
          <p:cNvSpPr>
            <a:spLocks noGrp="1"/>
          </p:cNvSpPr>
          <p:nvPr>
            <p:ph type="title"/>
          </p:nvPr>
        </p:nvSpPr>
        <p:spPr/>
        <p:txBody>
          <a:bodyPr/>
          <a:lstStyle/>
          <a:p>
            <a:r>
              <a:rPr lang="en-US" dirty="0"/>
              <a:t>Analysis</a:t>
            </a:r>
          </a:p>
        </p:txBody>
      </p:sp>
      <p:sp>
        <p:nvSpPr>
          <p:cNvPr id="4" name="Slide Number Placeholder 3">
            <a:extLst>
              <a:ext uri="{FF2B5EF4-FFF2-40B4-BE49-F238E27FC236}">
                <a16:creationId xmlns="" xmlns:a16="http://schemas.microsoft.com/office/drawing/2014/main" id="{F4F7325E-B80C-D476-AF8D-2F87AA14A23A}"/>
              </a:ext>
            </a:extLst>
          </p:cNvPr>
          <p:cNvSpPr>
            <a:spLocks noGrp="1"/>
          </p:cNvSpPr>
          <p:nvPr>
            <p:ph type="sldNum" sz="quarter" idx="12"/>
          </p:nvPr>
        </p:nvSpPr>
        <p:spPr/>
        <p:txBody>
          <a:bodyPr/>
          <a:lstStyle/>
          <a:p>
            <a:fld id="{E9F1805E-8ECD-4665-ACF6-E4B39ECC81D8}" type="slidenum">
              <a:rPr lang="en-US" smtClean="0"/>
              <a:pPr/>
              <a:t>21</a:t>
            </a:fld>
            <a:endParaRPr lang="en-US"/>
          </a:p>
        </p:txBody>
      </p:sp>
      <p:sp>
        <p:nvSpPr>
          <p:cNvPr id="9" name="Footer Placeholder 2">
            <a:extLst>
              <a:ext uri="{FF2B5EF4-FFF2-40B4-BE49-F238E27FC236}">
                <a16:creationId xmlns="" xmlns:a16="http://schemas.microsoft.com/office/drawing/2014/main" id="{B1CC8EE9-F5C8-9875-B21C-70FCFA3C1AC6}"/>
              </a:ext>
            </a:extLst>
          </p:cNvPr>
          <p:cNvSpPr>
            <a:spLocks noGrp="1"/>
          </p:cNvSpPr>
          <p:nvPr>
            <p:ph type="ftr" sz="quarter" idx="11"/>
          </p:nvPr>
        </p:nvSpPr>
        <p:spPr>
          <a:xfrm>
            <a:off x="5181600" y="6346402"/>
            <a:ext cx="3505200" cy="365125"/>
          </a:xfrm>
        </p:spPr>
        <p:txBody>
          <a:bodyPr/>
          <a:lstStyle/>
          <a:p>
            <a:r>
              <a:rPr lang="en-US" dirty="0"/>
              <a:t>Project Batch Number- 22</a:t>
            </a:r>
          </a:p>
        </p:txBody>
      </p:sp>
      <p:sp>
        <p:nvSpPr>
          <p:cNvPr id="5" name="TextBox 4">
            <a:extLst>
              <a:ext uri="{FF2B5EF4-FFF2-40B4-BE49-F238E27FC236}">
                <a16:creationId xmlns="" xmlns:a16="http://schemas.microsoft.com/office/drawing/2014/main" id="{92EA9747-CE7A-D262-93FE-42362D395571}"/>
              </a:ext>
            </a:extLst>
          </p:cNvPr>
          <p:cNvSpPr txBox="1"/>
          <p:nvPr/>
        </p:nvSpPr>
        <p:spPr>
          <a:xfrm>
            <a:off x="332014" y="1722060"/>
            <a:ext cx="8077200" cy="3139321"/>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Motor Current Signature Analysis (MCSA): </a:t>
            </a:r>
            <a:r>
              <a:rPr lang="en-US" dirty="0">
                <a:latin typeface="Times New Roman" panose="02020603050405020304" pitchFamily="18" charset="0"/>
                <a:cs typeface="Times New Roman" panose="02020603050405020304" pitchFamily="18" charset="0"/>
              </a:rPr>
              <a:t>It is a non-invasive diagnostic technique that analyzes the </a:t>
            </a:r>
            <a:r>
              <a:rPr lang="en-US" b="1" dirty="0">
                <a:latin typeface="Times New Roman" panose="02020603050405020304" pitchFamily="18" charset="0"/>
                <a:cs typeface="Times New Roman" panose="02020603050405020304" pitchFamily="18" charset="0"/>
              </a:rPr>
              <a:t>frequency spectrum of motor current</a:t>
            </a:r>
            <a:r>
              <a:rPr lang="en-US" dirty="0">
                <a:latin typeface="Times New Roman" panose="02020603050405020304" pitchFamily="18" charset="0"/>
                <a:cs typeface="Times New Roman" panose="02020603050405020304" pitchFamily="18" charset="0"/>
              </a:rPr>
              <a:t> to detect various types of faults. MCSA is particularly effective because motor faults introduce characteristic frequency components in the current signal that can be detected using FFT.</a:t>
            </a:r>
            <a:endParaRPr lang="en-IN"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Stator Winding Faults:</a:t>
            </a:r>
            <a:r>
              <a:rPr lang="en-US" dirty="0">
                <a:latin typeface="Times New Roman" panose="02020603050405020304" pitchFamily="18" charset="0"/>
                <a:cs typeface="Times New Roman" panose="02020603050405020304" pitchFamily="18" charset="0"/>
              </a:rPr>
              <a:t> Stator winding faults  include inter-turn short circuits and phase imbalances that produces harmonics at the following frequencies. </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f_stator</a:t>
            </a:r>
            <a:r>
              <a:rPr lang="en-US" i="1" dirty="0">
                <a:latin typeface="Times New Roman" panose="02020603050405020304" pitchFamily="18" charset="0"/>
                <a:cs typeface="Times New Roman" panose="02020603050405020304" pitchFamily="18" charset="0"/>
              </a:rPr>
              <a:t> = </a:t>
            </a:r>
            <a:r>
              <a:rPr lang="en-US" i="1" dirty="0" err="1">
                <a:latin typeface="Times New Roman" panose="02020603050405020304" pitchFamily="18" charset="0"/>
                <a:cs typeface="Times New Roman" panose="02020603050405020304" pitchFamily="18" charset="0"/>
              </a:rPr>
              <a:t>f_s</a:t>
            </a:r>
            <a:r>
              <a:rPr lang="en-US" i="1" dirty="0">
                <a:latin typeface="Times New Roman" panose="02020603050405020304" pitchFamily="18" charset="0"/>
                <a:cs typeface="Times New Roman" panose="02020603050405020304" pitchFamily="18" charset="0"/>
              </a:rPr>
              <a:t> × (1 ± 2k)</a:t>
            </a: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These faults create harmonics at 150 Hz, 250 Hz, and other frequencies with abnormally high amplitudes compared to a healthy motor.</a:t>
            </a:r>
            <a:endParaRPr lang="en-IN" dirty="0">
              <a:latin typeface="Times New Roman" panose="02020603050405020304" pitchFamily="18" charset="0"/>
              <a:cs typeface="Times New Roman" panose="02020603050405020304" pitchFamily="18" charset="0"/>
            </a:endParaRPr>
          </a:p>
          <a:p>
            <a:pPr lvl="0"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8368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9E2252A-9B70-652F-B75F-12D110235622}"/>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1DA543F-F1E8-930F-50BF-A488A116A000}"/>
              </a:ext>
            </a:extLst>
          </p:cNvPr>
          <p:cNvSpPr>
            <a:spLocks noGrp="1"/>
          </p:cNvSpPr>
          <p:nvPr>
            <p:ph type="title"/>
          </p:nvPr>
        </p:nvSpPr>
        <p:spPr/>
        <p:txBody>
          <a:bodyPr/>
          <a:lstStyle/>
          <a:p>
            <a:r>
              <a:rPr lang="en-US" dirty="0"/>
              <a:t>Analysis</a:t>
            </a:r>
          </a:p>
        </p:txBody>
      </p:sp>
      <p:sp>
        <p:nvSpPr>
          <p:cNvPr id="4" name="Slide Number Placeholder 3">
            <a:extLst>
              <a:ext uri="{FF2B5EF4-FFF2-40B4-BE49-F238E27FC236}">
                <a16:creationId xmlns="" xmlns:a16="http://schemas.microsoft.com/office/drawing/2014/main" id="{925A924F-4488-2499-3F33-C9C527FD1DB9}"/>
              </a:ext>
            </a:extLst>
          </p:cNvPr>
          <p:cNvSpPr>
            <a:spLocks noGrp="1"/>
          </p:cNvSpPr>
          <p:nvPr>
            <p:ph type="sldNum" sz="quarter" idx="12"/>
          </p:nvPr>
        </p:nvSpPr>
        <p:spPr/>
        <p:txBody>
          <a:bodyPr/>
          <a:lstStyle/>
          <a:p>
            <a:fld id="{E9F1805E-8ECD-4665-ACF6-E4B39ECC81D8}" type="slidenum">
              <a:rPr lang="en-US" smtClean="0"/>
              <a:pPr/>
              <a:t>22</a:t>
            </a:fld>
            <a:endParaRPr lang="en-US"/>
          </a:p>
        </p:txBody>
      </p:sp>
      <p:sp>
        <p:nvSpPr>
          <p:cNvPr id="9" name="Footer Placeholder 2">
            <a:extLst>
              <a:ext uri="{FF2B5EF4-FFF2-40B4-BE49-F238E27FC236}">
                <a16:creationId xmlns="" xmlns:a16="http://schemas.microsoft.com/office/drawing/2014/main" id="{BBD39635-D1CD-2D61-BC4C-EF0E39D14C87}"/>
              </a:ext>
            </a:extLst>
          </p:cNvPr>
          <p:cNvSpPr>
            <a:spLocks noGrp="1"/>
          </p:cNvSpPr>
          <p:nvPr>
            <p:ph type="ftr" sz="quarter" idx="11"/>
          </p:nvPr>
        </p:nvSpPr>
        <p:spPr>
          <a:xfrm>
            <a:off x="5181600" y="6346402"/>
            <a:ext cx="3505200" cy="365125"/>
          </a:xfrm>
        </p:spPr>
        <p:txBody>
          <a:bodyPr/>
          <a:lstStyle/>
          <a:p>
            <a:r>
              <a:rPr lang="en-US" dirty="0"/>
              <a:t>Project Batch Number- 22</a:t>
            </a:r>
          </a:p>
        </p:txBody>
      </p:sp>
      <p:pic>
        <p:nvPicPr>
          <p:cNvPr id="4098" name="Picture 2">
            <a:extLst>
              <a:ext uri="{FF2B5EF4-FFF2-40B4-BE49-F238E27FC236}">
                <a16:creationId xmlns="" xmlns:a16="http://schemas.microsoft.com/office/drawing/2014/main" id="{4CC3FE80-F0DD-C9EC-CFEB-10E1CAF0B0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648" y="1133112"/>
            <a:ext cx="7921752" cy="5213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59012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E2C7459-7998-EBC9-95EB-2545E5268B24}"/>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522E62B1-0406-FC2B-3700-390BAA9014F0}"/>
              </a:ext>
            </a:extLst>
          </p:cNvPr>
          <p:cNvSpPr>
            <a:spLocks noGrp="1"/>
          </p:cNvSpPr>
          <p:nvPr>
            <p:ph type="title"/>
          </p:nvPr>
        </p:nvSpPr>
        <p:spPr/>
        <p:txBody>
          <a:bodyPr/>
          <a:lstStyle/>
          <a:p>
            <a:r>
              <a:rPr lang="en-US" dirty="0"/>
              <a:t>Analysis</a:t>
            </a:r>
          </a:p>
        </p:txBody>
      </p:sp>
      <p:sp>
        <p:nvSpPr>
          <p:cNvPr id="4" name="Slide Number Placeholder 3">
            <a:extLst>
              <a:ext uri="{FF2B5EF4-FFF2-40B4-BE49-F238E27FC236}">
                <a16:creationId xmlns="" xmlns:a16="http://schemas.microsoft.com/office/drawing/2014/main" id="{BC05D2AE-C05F-A342-56DE-85FA5F148A93}"/>
              </a:ext>
            </a:extLst>
          </p:cNvPr>
          <p:cNvSpPr>
            <a:spLocks noGrp="1"/>
          </p:cNvSpPr>
          <p:nvPr>
            <p:ph type="sldNum" sz="quarter" idx="12"/>
          </p:nvPr>
        </p:nvSpPr>
        <p:spPr/>
        <p:txBody>
          <a:bodyPr/>
          <a:lstStyle/>
          <a:p>
            <a:fld id="{E9F1805E-8ECD-4665-ACF6-E4B39ECC81D8}" type="slidenum">
              <a:rPr lang="en-US" smtClean="0"/>
              <a:pPr/>
              <a:t>23</a:t>
            </a:fld>
            <a:endParaRPr lang="en-US"/>
          </a:p>
        </p:txBody>
      </p:sp>
      <p:sp>
        <p:nvSpPr>
          <p:cNvPr id="9" name="Footer Placeholder 2">
            <a:extLst>
              <a:ext uri="{FF2B5EF4-FFF2-40B4-BE49-F238E27FC236}">
                <a16:creationId xmlns="" xmlns:a16="http://schemas.microsoft.com/office/drawing/2014/main" id="{60E0DFEF-CCB6-76E7-9BBD-DE27B581CA93}"/>
              </a:ext>
            </a:extLst>
          </p:cNvPr>
          <p:cNvSpPr>
            <a:spLocks noGrp="1"/>
          </p:cNvSpPr>
          <p:nvPr>
            <p:ph type="ftr" sz="quarter" idx="11"/>
          </p:nvPr>
        </p:nvSpPr>
        <p:spPr>
          <a:xfrm>
            <a:off x="5181600" y="6346402"/>
            <a:ext cx="3505200" cy="365125"/>
          </a:xfrm>
        </p:spPr>
        <p:txBody>
          <a:bodyPr/>
          <a:lstStyle/>
          <a:p>
            <a:r>
              <a:rPr lang="en-US" dirty="0"/>
              <a:t>Project Batch Number- 22</a:t>
            </a:r>
          </a:p>
        </p:txBody>
      </p:sp>
      <p:sp>
        <p:nvSpPr>
          <p:cNvPr id="5" name="TextBox 4">
            <a:extLst>
              <a:ext uri="{FF2B5EF4-FFF2-40B4-BE49-F238E27FC236}">
                <a16:creationId xmlns="" xmlns:a16="http://schemas.microsoft.com/office/drawing/2014/main" id="{48D885B4-C2D7-53AE-CD7D-28A86EB97E59}"/>
              </a:ext>
            </a:extLst>
          </p:cNvPr>
          <p:cNvSpPr txBox="1"/>
          <p:nvPr/>
        </p:nvSpPr>
        <p:spPr>
          <a:xfrm>
            <a:off x="381000" y="1155348"/>
            <a:ext cx="7696200" cy="4524315"/>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Broken Rotor Bar Fault:</a:t>
            </a:r>
            <a:r>
              <a:rPr lang="en-US" dirty="0">
                <a:latin typeface="Times New Roman" panose="02020603050405020304" pitchFamily="18" charset="0"/>
                <a:cs typeface="Times New Roman" panose="02020603050405020304" pitchFamily="18" charset="0"/>
              </a:rPr>
              <a:t> Broken rotor bars are among the most common motor faults and can be detected using MCSA. The fault introduces sidebands around the supply frequency at specific frequencies determined by the motor slip.</a:t>
            </a:r>
            <a:endParaRPr lang="en-IN" dirty="0">
              <a:latin typeface="Times New Roman" panose="02020603050405020304" pitchFamily="18" charset="0"/>
              <a:cs typeface="Times New Roman" panose="02020603050405020304" pitchFamily="18" charset="0"/>
            </a:endParaRPr>
          </a:p>
          <a:p>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f_brb</a:t>
            </a:r>
            <a:r>
              <a:rPr lang="en-US" i="1" dirty="0">
                <a:latin typeface="Times New Roman" panose="02020603050405020304" pitchFamily="18" charset="0"/>
                <a:cs typeface="Times New Roman" panose="02020603050405020304" pitchFamily="18" charset="0"/>
              </a:rPr>
              <a:t> = </a:t>
            </a:r>
            <a:r>
              <a:rPr lang="en-US" i="1" dirty="0" err="1">
                <a:latin typeface="Times New Roman" panose="02020603050405020304" pitchFamily="18" charset="0"/>
                <a:cs typeface="Times New Roman" panose="02020603050405020304" pitchFamily="18" charset="0"/>
              </a:rPr>
              <a:t>f_s</a:t>
            </a:r>
            <a:r>
              <a:rPr lang="en-US" i="1" dirty="0">
                <a:latin typeface="Times New Roman" panose="02020603050405020304" pitchFamily="18" charset="0"/>
                <a:cs typeface="Times New Roman" panose="02020603050405020304" pitchFamily="18" charset="0"/>
              </a:rPr>
              <a:t> × (1 ± 2ks)</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Where:</a:t>
            </a:r>
            <a:endParaRPr lang="en-IN" dirty="0">
              <a:latin typeface="Times New Roman" panose="02020603050405020304" pitchFamily="18" charset="0"/>
              <a:cs typeface="Times New Roman" panose="02020603050405020304" pitchFamily="18" charset="0"/>
            </a:endParaRPr>
          </a:p>
          <a:p>
            <a:pPr lvl="0"/>
            <a:r>
              <a:rPr lang="en-US" dirty="0" err="1">
                <a:latin typeface="Times New Roman" panose="02020603050405020304" pitchFamily="18" charset="0"/>
                <a:cs typeface="Times New Roman" panose="02020603050405020304" pitchFamily="18" charset="0"/>
              </a:rPr>
              <a:t>f_s</a:t>
            </a:r>
            <a:r>
              <a:rPr lang="en-US" dirty="0">
                <a:latin typeface="Times New Roman" panose="02020603050405020304" pitchFamily="18" charset="0"/>
                <a:cs typeface="Times New Roman" panose="02020603050405020304" pitchFamily="18" charset="0"/>
              </a:rPr>
              <a:t> = Supply frequency (50 Hz)</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k = Harmonic order (1, 2, 3, ...)</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s = Motor slip</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For the Siemens motor used in this project (0.75 kW, 1 HP, 6-pole, 415V, 50Hz, 3-phase, 1000 rpm synchronous speed, 970 rpm actual speed), the slip is calculated as:</a:t>
            </a:r>
            <a:endParaRPr lang="en-IN" dirty="0">
              <a:latin typeface="Times New Roman" panose="02020603050405020304" pitchFamily="18" charset="0"/>
              <a:cs typeface="Times New Roman" panose="02020603050405020304" pitchFamily="18" charset="0"/>
            </a:endParaRPr>
          </a:p>
          <a:p>
            <a:r>
              <a:rPr lang="en-US" i="1" dirty="0">
                <a:latin typeface="Times New Roman" panose="02020603050405020304" pitchFamily="18" charset="0"/>
                <a:cs typeface="Times New Roman" panose="02020603050405020304" pitchFamily="18" charset="0"/>
              </a:rPr>
              <a:t>	s = (N_s - </a:t>
            </a:r>
            <a:r>
              <a:rPr lang="en-US" i="1" dirty="0" err="1">
                <a:latin typeface="Times New Roman" panose="02020603050405020304" pitchFamily="18" charset="0"/>
                <a:cs typeface="Times New Roman" panose="02020603050405020304" pitchFamily="18" charset="0"/>
              </a:rPr>
              <a:t>N_r</a:t>
            </a:r>
            <a:r>
              <a:rPr lang="en-US" i="1" dirty="0">
                <a:latin typeface="Times New Roman" panose="02020603050405020304" pitchFamily="18" charset="0"/>
                <a:cs typeface="Times New Roman" panose="02020603050405020304" pitchFamily="18" charset="0"/>
              </a:rPr>
              <a:t>) / N_s = (1000 - 970) / 1000 = 0.03 = 3%</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Therefore, the broken rotor bar fault frequencies are:</a:t>
            </a:r>
            <a:endParaRPr lang="en-IN" dirty="0">
              <a:latin typeface="Times New Roman" panose="02020603050405020304" pitchFamily="18" charset="0"/>
              <a:cs typeface="Times New Roman" panose="02020603050405020304" pitchFamily="18" charset="0"/>
            </a:endParaRPr>
          </a:p>
          <a:p>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f_brb</a:t>
            </a:r>
            <a:r>
              <a:rPr lang="en-US" i="1" dirty="0">
                <a:latin typeface="Times New Roman" panose="02020603050405020304" pitchFamily="18" charset="0"/>
                <a:cs typeface="Times New Roman" panose="02020603050405020304" pitchFamily="18" charset="0"/>
              </a:rPr>
              <a:t> = 50 × (1 ± 2 × 1 × 0.03) = 50 ± 3 = 47 Hz and 53 Hz</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presence of significant peaks at 47 Hz and 53 Hz in the current spectrum indicates a broken rotor bar condition.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4582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FB789AF-298E-0CC1-B638-21E5664D7E86}"/>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9ED2F9A6-139C-9480-23F0-B06EE72D5316}"/>
              </a:ext>
            </a:extLst>
          </p:cNvPr>
          <p:cNvSpPr>
            <a:spLocks noGrp="1"/>
          </p:cNvSpPr>
          <p:nvPr>
            <p:ph type="title"/>
          </p:nvPr>
        </p:nvSpPr>
        <p:spPr>
          <a:xfrm>
            <a:off x="304800" y="406400"/>
            <a:ext cx="8229600" cy="660400"/>
          </a:xfrm>
        </p:spPr>
        <p:txBody>
          <a:bodyPr/>
          <a:lstStyle/>
          <a:p>
            <a:r>
              <a:rPr lang="en-US" dirty="0"/>
              <a:t>Analysis</a:t>
            </a:r>
          </a:p>
        </p:txBody>
      </p:sp>
      <p:sp>
        <p:nvSpPr>
          <p:cNvPr id="4" name="Slide Number Placeholder 3">
            <a:extLst>
              <a:ext uri="{FF2B5EF4-FFF2-40B4-BE49-F238E27FC236}">
                <a16:creationId xmlns="" xmlns:a16="http://schemas.microsoft.com/office/drawing/2014/main" id="{EFD0DA8C-F702-F7E5-32C2-341E19B26F3C}"/>
              </a:ext>
            </a:extLst>
          </p:cNvPr>
          <p:cNvSpPr>
            <a:spLocks noGrp="1"/>
          </p:cNvSpPr>
          <p:nvPr>
            <p:ph type="sldNum" sz="quarter" idx="12"/>
          </p:nvPr>
        </p:nvSpPr>
        <p:spPr/>
        <p:txBody>
          <a:bodyPr/>
          <a:lstStyle/>
          <a:p>
            <a:fld id="{E9F1805E-8ECD-4665-ACF6-E4B39ECC81D8}" type="slidenum">
              <a:rPr lang="en-US" smtClean="0"/>
              <a:pPr/>
              <a:t>24</a:t>
            </a:fld>
            <a:endParaRPr lang="en-US"/>
          </a:p>
        </p:txBody>
      </p:sp>
      <p:sp>
        <p:nvSpPr>
          <p:cNvPr id="9" name="Footer Placeholder 2">
            <a:extLst>
              <a:ext uri="{FF2B5EF4-FFF2-40B4-BE49-F238E27FC236}">
                <a16:creationId xmlns="" xmlns:a16="http://schemas.microsoft.com/office/drawing/2014/main" id="{8F600E98-EB33-65FA-7BB4-05948CB40C22}"/>
              </a:ext>
            </a:extLst>
          </p:cNvPr>
          <p:cNvSpPr>
            <a:spLocks noGrp="1"/>
          </p:cNvSpPr>
          <p:nvPr>
            <p:ph type="ftr" sz="quarter" idx="11"/>
          </p:nvPr>
        </p:nvSpPr>
        <p:spPr>
          <a:xfrm>
            <a:off x="5181600" y="6346402"/>
            <a:ext cx="3505200" cy="365125"/>
          </a:xfrm>
        </p:spPr>
        <p:txBody>
          <a:bodyPr/>
          <a:lstStyle/>
          <a:p>
            <a:r>
              <a:rPr lang="en-US" dirty="0"/>
              <a:t>Project Batch Number- 22</a:t>
            </a:r>
          </a:p>
        </p:txBody>
      </p:sp>
      <p:sp>
        <p:nvSpPr>
          <p:cNvPr id="11" name="TextBox 10">
            <a:extLst>
              <a:ext uri="{FF2B5EF4-FFF2-40B4-BE49-F238E27FC236}">
                <a16:creationId xmlns="" xmlns:a16="http://schemas.microsoft.com/office/drawing/2014/main" id="{D119E0C8-A326-5874-B876-6F5F5DEE74B2}"/>
              </a:ext>
            </a:extLst>
          </p:cNvPr>
          <p:cNvSpPr txBox="1"/>
          <p:nvPr/>
        </p:nvSpPr>
        <p:spPr>
          <a:xfrm>
            <a:off x="152400" y="1066800"/>
            <a:ext cx="9067800" cy="5078313"/>
          </a:xfrm>
          <a:prstGeom prst="rect">
            <a:avLst/>
          </a:prstGeom>
          <a:noFill/>
        </p:spPr>
        <p:txBody>
          <a:bodyPr wrap="square">
            <a:spAutoFit/>
          </a:bodyPr>
          <a:lstStyle/>
          <a:p>
            <a:pPr marL="285750" indent="-285750" algn="l">
              <a:buFont typeface="Wingdings" panose="05000000000000000000" pitchFamily="2" charset="2"/>
              <a:buChar char="v"/>
            </a:pPr>
            <a:r>
              <a:rPr lang="en-US" b="1" i="0" dirty="0">
                <a:effectLst/>
                <a:latin typeface="Times New Roman" panose="02020603050405020304" pitchFamily="18" charset="0"/>
                <a:cs typeface="Times New Roman" panose="02020603050405020304" pitchFamily="18" charset="0"/>
              </a:rPr>
              <a:t>TP (True Positive)</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Definition: The model correctly predicted a positive class when it actually was positive​</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Motor Example: Model predicts "Warning" and the motor status is actually "Warning" </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Formula position: Diagonal of confusion matrix (correct prediction)</a:t>
            </a:r>
          </a:p>
          <a:p>
            <a:pPr marL="285750" indent="-285750" algn="l">
              <a:buFont typeface="Wingdings" panose="05000000000000000000" pitchFamily="2" charset="2"/>
              <a:buChar char="v"/>
            </a:pPr>
            <a:r>
              <a:rPr lang="en-US" b="1" i="0" dirty="0">
                <a:effectLst/>
                <a:latin typeface="Times New Roman" panose="02020603050405020304" pitchFamily="18" charset="0"/>
                <a:cs typeface="Times New Roman" panose="02020603050405020304" pitchFamily="18" charset="0"/>
              </a:rPr>
              <a:t>TN (True Negative)</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Definition: The model correctly predicted a negative class when it actually was negative​</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Motor Example: Model predicts "Normal" and the motor status is actually "Normal" </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Formula position: Diagonal of confusion matrix (correct prediction)</a:t>
            </a:r>
          </a:p>
          <a:p>
            <a:pPr marL="285750" indent="-285750" algn="l">
              <a:buFont typeface="Wingdings" panose="05000000000000000000" pitchFamily="2" charset="2"/>
              <a:buChar char="v"/>
            </a:pPr>
            <a:r>
              <a:rPr lang="en-US" b="1" i="0" dirty="0">
                <a:effectLst/>
                <a:latin typeface="Times New Roman" panose="02020603050405020304" pitchFamily="18" charset="0"/>
                <a:cs typeface="Times New Roman" panose="02020603050405020304" pitchFamily="18" charset="0"/>
              </a:rPr>
              <a:t>FP (False Positive) - Type I Error</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Definition: The model incorrectly predicted positive when it should have been negative​</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Motor Example: Model predicts "Critical" but the motor is actually "Normal" </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Impact: False alarm - unnecessary maintenance, wasted resources</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Also called: Type I error, false alarm​</a:t>
            </a:r>
          </a:p>
          <a:p>
            <a:pPr marL="285750" indent="-285750" algn="l">
              <a:buFont typeface="Wingdings" panose="05000000000000000000" pitchFamily="2" charset="2"/>
              <a:buChar char="v"/>
            </a:pPr>
            <a:r>
              <a:rPr lang="en-US" b="1" i="0" dirty="0">
                <a:effectLst/>
                <a:latin typeface="Times New Roman" panose="02020603050405020304" pitchFamily="18" charset="0"/>
                <a:cs typeface="Times New Roman" panose="02020603050405020304" pitchFamily="18" charset="0"/>
              </a:rPr>
              <a:t>FN (False Negative) - Type II Error</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Definition: The model incorrectly predicted negative when it should have been positive​</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Motor Example: Model predicts "Normal" but the motor is actually "Critical" </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Impact: Most dangerous - missed failure, potential catastrophic breakdown</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Also called: Type II error, miss</a:t>
            </a:r>
          </a:p>
        </p:txBody>
      </p:sp>
    </p:spTree>
    <p:extLst>
      <p:ext uri="{BB962C8B-B14F-4D97-AF65-F5344CB8AC3E}">
        <p14:creationId xmlns:p14="http://schemas.microsoft.com/office/powerpoint/2010/main" val="2817457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BE13F0D-9615-5DDA-76AF-8D4B677C1E05}"/>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B29F179C-8198-305D-B5A8-5CB2954C4E61}"/>
              </a:ext>
            </a:extLst>
          </p:cNvPr>
          <p:cNvSpPr>
            <a:spLocks noGrp="1"/>
          </p:cNvSpPr>
          <p:nvPr>
            <p:ph type="title"/>
          </p:nvPr>
        </p:nvSpPr>
        <p:spPr/>
        <p:txBody>
          <a:bodyPr/>
          <a:lstStyle/>
          <a:p>
            <a:r>
              <a:rPr lang="en-US" dirty="0"/>
              <a:t>Analysis</a:t>
            </a:r>
          </a:p>
        </p:txBody>
      </p:sp>
      <p:sp>
        <p:nvSpPr>
          <p:cNvPr id="4" name="Slide Number Placeholder 3">
            <a:extLst>
              <a:ext uri="{FF2B5EF4-FFF2-40B4-BE49-F238E27FC236}">
                <a16:creationId xmlns="" xmlns:a16="http://schemas.microsoft.com/office/drawing/2014/main" id="{E2F2275F-A533-F4CB-0000-ADB712784139}"/>
              </a:ext>
            </a:extLst>
          </p:cNvPr>
          <p:cNvSpPr>
            <a:spLocks noGrp="1"/>
          </p:cNvSpPr>
          <p:nvPr>
            <p:ph type="sldNum" sz="quarter" idx="12"/>
          </p:nvPr>
        </p:nvSpPr>
        <p:spPr/>
        <p:txBody>
          <a:bodyPr/>
          <a:lstStyle/>
          <a:p>
            <a:fld id="{E9F1805E-8ECD-4665-ACF6-E4B39ECC81D8}" type="slidenum">
              <a:rPr lang="en-US" smtClean="0"/>
              <a:pPr/>
              <a:t>25</a:t>
            </a:fld>
            <a:endParaRPr lang="en-US"/>
          </a:p>
        </p:txBody>
      </p:sp>
      <p:sp>
        <p:nvSpPr>
          <p:cNvPr id="9" name="Footer Placeholder 2">
            <a:extLst>
              <a:ext uri="{FF2B5EF4-FFF2-40B4-BE49-F238E27FC236}">
                <a16:creationId xmlns="" xmlns:a16="http://schemas.microsoft.com/office/drawing/2014/main" id="{E5DEB2CF-6B44-3F20-5E66-4C4C86C0E506}"/>
              </a:ext>
            </a:extLst>
          </p:cNvPr>
          <p:cNvSpPr>
            <a:spLocks noGrp="1"/>
          </p:cNvSpPr>
          <p:nvPr>
            <p:ph type="ftr" sz="quarter" idx="11"/>
          </p:nvPr>
        </p:nvSpPr>
        <p:spPr>
          <a:xfrm>
            <a:off x="5181600" y="6346402"/>
            <a:ext cx="3505200" cy="365125"/>
          </a:xfrm>
        </p:spPr>
        <p:txBody>
          <a:bodyPr/>
          <a:lstStyle/>
          <a:p>
            <a:r>
              <a:rPr lang="en-US" dirty="0"/>
              <a:t>Project Batch Number- 22</a:t>
            </a:r>
          </a:p>
        </p:txBody>
      </p:sp>
      <p:sp>
        <p:nvSpPr>
          <p:cNvPr id="11" name="TextBox 10">
            <a:extLst>
              <a:ext uri="{FF2B5EF4-FFF2-40B4-BE49-F238E27FC236}">
                <a16:creationId xmlns="" xmlns:a16="http://schemas.microsoft.com/office/drawing/2014/main" id="{125BE162-32A1-D69F-40E5-F0D67EC77F4F}"/>
              </a:ext>
            </a:extLst>
          </p:cNvPr>
          <p:cNvSpPr txBox="1"/>
          <p:nvPr/>
        </p:nvSpPr>
        <p:spPr>
          <a:xfrm>
            <a:off x="612648" y="1295400"/>
            <a:ext cx="9067800" cy="461665"/>
          </a:xfrm>
          <a:prstGeom prst="rect">
            <a:avLst/>
          </a:prstGeom>
          <a:noFill/>
        </p:spPr>
        <p:txBody>
          <a:bodyPr wrap="square">
            <a:spAutoFit/>
          </a:bodyPr>
          <a:lstStyle/>
          <a:p>
            <a:pPr algn="l">
              <a:buNone/>
            </a:pPr>
            <a:r>
              <a:rPr lang="en-US" sz="2400" b="1" i="0" dirty="0">
                <a:effectLst/>
                <a:latin typeface="Times New Roman" panose="02020603050405020304" pitchFamily="18" charset="0"/>
                <a:cs typeface="Times New Roman" panose="02020603050405020304" pitchFamily="18" charset="0"/>
              </a:rPr>
              <a:t>CONFUSION MATRIX:</a:t>
            </a:r>
          </a:p>
        </p:txBody>
      </p:sp>
      <p:pic>
        <p:nvPicPr>
          <p:cNvPr id="5122" name="Picture 2" descr="A representative confusion matrix representing the true class vs.... |  Download Scientific Diagram">
            <a:extLst>
              <a:ext uri="{FF2B5EF4-FFF2-40B4-BE49-F238E27FC236}">
                <a16:creationId xmlns="" xmlns:a16="http://schemas.microsoft.com/office/drawing/2014/main" id="{C3082477-BF2E-858F-18E3-BB4024F7C2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3248" y="2080356"/>
            <a:ext cx="6169152" cy="3846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0840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133FBDB-F8A5-F296-1D3D-B07B7AE701FD}"/>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9633A460-BBC1-15CB-6F77-A26F80E1A75A}"/>
              </a:ext>
            </a:extLst>
          </p:cNvPr>
          <p:cNvSpPr>
            <a:spLocks noGrp="1"/>
          </p:cNvSpPr>
          <p:nvPr>
            <p:ph type="title"/>
          </p:nvPr>
        </p:nvSpPr>
        <p:spPr/>
        <p:txBody>
          <a:bodyPr/>
          <a:lstStyle/>
          <a:p>
            <a:r>
              <a:rPr lang="en-US" dirty="0"/>
              <a:t>Analysis</a:t>
            </a:r>
          </a:p>
        </p:txBody>
      </p:sp>
      <p:sp>
        <p:nvSpPr>
          <p:cNvPr id="4" name="Slide Number Placeholder 3">
            <a:extLst>
              <a:ext uri="{FF2B5EF4-FFF2-40B4-BE49-F238E27FC236}">
                <a16:creationId xmlns="" xmlns:a16="http://schemas.microsoft.com/office/drawing/2014/main" id="{F92DE23C-C559-62D8-E384-A53280E8ACF7}"/>
              </a:ext>
            </a:extLst>
          </p:cNvPr>
          <p:cNvSpPr>
            <a:spLocks noGrp="1"/>
          </p:cNvSpPr>
          <p:nvPr>
            <p:ph type="sldNum" sz="quarter" idx="12"/>
          </p:nvPr>
        </p:nvSpPr>
        <p:spPr/>
        <p:txBody>
          <a:bodyPr/>
          <a:lstStyle/>
          <a:p>
            <a:fld id="{E9F1805E-8ECD-4665-ACF6-E4B39ECC81D8}" type="slidenum">
              <a:rPr lang="en-US" smtClean="0"/>
              <a:pPr/>
              <a:t>26</a:t>
            </a:fld>
            <a:endParaRPr lang="en-US"/>
          </a:p>
        </p:txBody>
      </p:sp>
      <p:sp>
        <p:nvSpPr>
          <p:cNvPr id="9" name="Footer Placeholder 2">
            <a:extLst>
              <a:ext uri="{FF2B5EF4-FFF2-40B4-BE49-F238E27FC236}">
                <a16:creationId xmlns="" xmlns:a16="http://schemas.microsoft.com/office/drawing/2014/main" id="{8F042E99-0CBF-4D43-3522-F87F4D0BE85F}"/>
              </a:ext>
            </a:extLst>
          </p:cNvPr>
          <p:cNvSpPr>
            <a:spLocks noGrp="1"/>
          </p:cNvSpPr>
          <p:nvPr>
            <p:ph type="ftr" sz="quarter" idx="11"/>
          </p:nvPr>
        </p:nvSpPr>
        <p:spPr>
          <a:xfrm>
            <a:off x="5181600" y="6346402"/>
            <a:ext cx="3505200" cy="365125"/>
          </a:xfrm>
        </p:spPr>
        <p:txBody>
          <a:bodyPr/>
          <a:lstStyle/>
          <a:p>
            <a:r>
              <a:rPr lang="en-US" dirty="0"/>
              <a:t>Project Batch Number- 22</a:t>
            </a:r>
          </a:p>
        </p:txBody>
      </p:sp>
      <p:sp>
        <p:nvSpPr>
          <p:cNvPr id="5" name="TextBox 4">
            <a:extLst>
              <a:ext uri="{FF2B5EF4-FFF2-40B4-BE49-F238E27FC236}">
                <a16:creationId xmlns="" xmlns:a16="http://schemas.microsoft.com/office/drawing/2014/main" id="{6292E2E6-BC4D-E0BD-5A7F-0D615C1A84FA}"/>
              </a:ext>
            </a:extLst>
          </p:cNvPr>
          <p:cNvSpPr txBox="1"/>
          <p:nvPr/>
        </p:nvSpPr>
        <p:spPr>
          <a:xfrm>
            <a:off x="457200" y="1143000"/>
            <a:ext cx="8382000" cy="5029200"/>
          </a:xfrm>
          <a:prstGeom prst="rect">
            <a:avLst/>
          </a:prstGeom>
          <a:noFill/>
        </p:spPr>
        <p:txBody>
          <a:bodyPr wrap="square">
            <a:spAutoFit/>
          </a:bodyPr>
          <a:lstStyle/>
          <a:p>
            <a:pPr>
              <a:lnSpc>
                <a:spcPct val="115000"/>
              </a:lnSpc>
              <a:spcAft>
                <a:spcPts val="1000"/>
              </a:spcAft>
              <a:buNone/>
            </a:pPr>
            <a:r>
              <a:rPr lang="en-US" b="1" dirty="0">
                <a:effectLst/>
                <a:latin typeface="Times New Roman" panose="02020603050405020304" pitchFamily="18" charset="0"/>
                <a:ea typeface="MS Mincho" panose="02020609040205080304" pitchFamily="49" charset="-128"/>
                <a:cs typeface="Times New Roman" panose="02020603050405020304" pitchFamily="18" charset="0"/>
              </a:rPr>
              <a:t>Accuracy:</a:t>
            </a:r>
            <a:r>
              <a:rPr lang="en-US" dirty="0">
                <a:effectLst/>
                <a:latin typeface="Times New Roman" panose="02020603050405020304" pitchFamily="18" charset="0"/>
                <a:ea typeface="MS Mincho" panose="02020609040205080304" pitchFamily="49" charset="-128"/>
                <a:cs typeface="Times New Roman" panose="02020603050405020304" pitchFamily="18" charset="0"/>
              </a:rPr>
              <a:t> The proportion of correct predictions among all predictions. It is calculated as:</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algn="ctr">
              <a:lnSpc>
                <a:spcPct val="115000"/>
              </a:lnSpc>
              <a:spcAft>
                <a:spcPts val="1000"/>
              </a:spcAft>
              <a:buNone/>
            </a:pPr>
            <a:r>
              <a:rPr lang="en-US" i="1" dirty="0">
                <a:effectLst/>
                <a:latin typeface="Times New Roman" panose="02020603050405020304" pitchFamily="18" charset="0"/>
                <a:ea typeface="MS Mincho" panose="02020609040205080304" pitchFamily="49" charset="-128"/>
                <a:cs typeface="Times New Roman" panose="02020603050405020304" pitchFamily="18" charset="0"/>
              </a:rPr>
              <a:t>Accuracy = (Total Correct Predictions) / (Total Predictions)</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dirty="0">
                <a:effectLst/>
                <a:latin typeface="Times New Roman" panose="02020603050405020304" pitchFamily="18" charset="0"/>
                <a:ea typeface="MS Mincho" panose="02020609040205080304" pitchFamily="49" charset="-128"/>
                <a:cs typeface="Times New Roman" panose="02020603050405020304" pitchFamily="18" charset="0"/>
              </a:rPr>
              <a:t>While accuracy is intuitive, it can be misleading for imbalanced datasets where one class significantly outnumbers others.</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b="1" dirty="0">
                <a:effectLst/>
                <a:latin typeface="Times New Roman" panose="02020603050405020304" pitchFamily="18" charset="0"/>
                <a:ea typeface="MS Mincho" panose="02020609040205080304" pitchFamily="49" charset="-128"/>
                <a:cs typeface="Times New Roman" panose="02020603050405020304" pitchFamily="18" charset="0"/>
              </a:rPr>
              <a:t>Precision:</a:t>
            </a:r>
            <a:r>
              <a:rPr lang="en-US" dirty="0">
                <a:effectLst/>
                <a:latin typeface="Times New Roman" panose="02020603050405020304" pitchFamily="18" charset="0"/>
                <a:ea typeface="MS Mincho" panose="02020609040205080304" pitchFamily="49" charset="-128"/>
                <a:cs typeface="Times New Roman" panose="02020603050405020304" pitchFamily="18" charset="0"/>
              </a:rPr>
              <a:t> The proportion of true positive predictions among all positive predictions for a specific class. High precision indicates that when the model predicts a particular class, it is usually correct.</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algn="ctr">
              <a:lnSpc>
                <a:spcPct val="115000"/>
              </a:lnSpc>
              <a:spcAft>
                <a:spcPts val="1000"/>
              </a:spcAft>
              <a:buNone/>
            </a:pPr>
            <a:r>
              <a:rPr lang="en-US" i="1" dirty="0">
                <a:effectLst/>
                <a:latin typeface="Times New Roman" panose="02020603050405020304" pitchFamily="18" charset="0"/>
                <a:ea typeface="MS Mincho" panose="02020609040205080304" pitchFamily="49" charset="-128"/>
                <a:cs typeface="Times New Roman" panose="02020603050405020304" pitchFamily="18" charset="0"/>
              </a:rPr>
              <a:t>Precision = True Positives / (True Positives + False Positives)</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b="1" dirty="0">
                <a:effectLst/>
                <a:latin typeface="Times New Roman" panose="02020603050405020304" pitchFamily="18" charset="0"/>
                <a:ea typeface="MS Mincho" panose="02020609040205080304" pitchFamily="49" charset="-128"/>
                <a:cs typeface="Times New Roman" panose="02020603050405020304" pitchFamily="18" charset="0"/>
              </a:rPr>
              <a:t>Recall (Sensitivity):</a:t>
            </a:r>
            <a:r>
              <a:rPr lang="en-US" dirty="0">
                <a:effectLst/>
                <a:latin typeface="Times New Roman" panose="02020603050405020304" pitchFamily="18" charset="0"/>
                <a:ea typeface="MS Mincho" panose="02020609040205080304" pitchFamily="49" charset="-128"/>
                <a:cs typeface="Times New Roman" panose="02020603050405020304" pitchFamily="18" charset="0"/>
              </a:rPr>
              <a:t> The proportion of true positive predictions among all actual instances of a class. High recall indicates that the model successfully identifies most instances of the class.</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algn="ctr">
              <a:lnSpc>
                <a:spcPct val="115000"/>
              </a:lnSpc>
              <a:spcAft>
                <a:spcPts val="1000"/>
              </a:spcAft>
              <a:buNone/>
            </a:pPr>
            <a:r>
              <a:rPr lang="en-US" i="1" dirty="0">
                <a:effectLst/>
                <a:latin typeface="Times New Roman" panose="02020603050405020304" pitchFamily="18" charset="0"/>
                <a:ea typeface="MS Mincho" panose="02020609040205080304" pitchFamily="49" charset="-128"/>
                <a:cs typeface="Times New Roman" panose="02020603050405020304" pitchFamily="18" charset="0"/>
              </a:rPr>
              <a:t>Recall = True Positives / (True Positives + False Negatives)</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172173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a:t>
            </a:r>
          </a:p>
        </p:txBody>
      </p:sp>
      <p:sp>
        <p:nvSpPr>
          <p:cNvPr id="3" name="Footer Placeholder 2"/>
          <p:cNvSpPr>
            <a:spLocks noGrp="1"/>
          </p:cNvSpPr>
          <p:nvPr>
            <p:ph type="ftr" sz="quarter" idx="11"/>
          </p:nvPr>
        </p:nvSpPr>
        <p:spPr/>
        <p:txBody>
          <a:bodyPr/>
          <a:lstStyle/>
          <a:p>
            <a:r>
              <a:rPr lang="en-US" dirty="0"/>
              <a:t>Project Batch </a:t>
            </a:r>
            <a:r>
              <a:rPr lang="en-US" dirty="0" smtClean="0"/>
              <a:t>Number-22</a:t>
            </a:r>
            <a:endParaRPr lang="en-US" dirty="0"/>
          </a:p>
        </p:txBody>
      </p:sp>
      <p:sp>
        <p:nvSpPr>
          <p:cNvPr id="4" name="Slide Number Placeholder 3"/>
          <p:cNvSpPr>
            <a:spLocks noGrp="1"/>
          </p:cNvSpPr>
          <p:nvPr>
            <p:ph type="sldNum" sz="quarter" idx="12"/>
          </p:nvPr>
        </p:nvSpPr>
        <p:spPr/>
        <p:txBody>
          <a:bodyPr/>
          <a:lstStyle/>
          <a:p>
            <a:fld id="{E9F1805E-8ECD-4665-ACF6-E4B39ECC81D8}" type="slidenum">
              <a:rPr lang="en-US" smtClean="0"/>
              <a:pPr/>
              <a:t>27</a:t>
            </a:fld>
            <a:endParaRPr lang="en-US"/>
          </a:p>
        </p:txBody>
      </p:sp>
      <p:sp>
        <p:nvSpPr>
          <p:cNvPr id="5" name="Content Placeholder 4"/>
          <p:cNvSpPr>
            <a:spLocks noGrp="1"/>
          </p:cNvSpPr>
          <p:nvPr>
            <p:ph sz="quarter" idx="1"/>
          </p:nvPr>
        </p:nvSpPr>
        <p:spPr/>
        <p:txBody>
          <a:bodyPr>
            <a:normAutofit/>
          </a:bodyPr>
          <a:lstStyle/>
          <a:p>
            <a:pPr>
              <a:lnSpc>
                <a:spcPct val="115000"/>
              </a:lnSpc>
              <a:spcAft>
                <a:spcPts val="1000"/>
              </a:spcAft>
              <a:buNone/>
            </a:pPr>
            <a:r>
              <a:rPr lang="en-US" sz="1800" b="1" dirty="0">
                <a:latin typeface="Times New Roman" panose="02020603050405020304" pitchFamily="18" charset="0"/>
                <a:ea typeface="MS Mincho" panose="02020609040205080304" pitchFamily="49" charset="-128"/>
                <a:cs typeface="Times New Roman" panose="02020603050405020304" pitchFamily="18" charset="0"/>
              </a:rPr>
              <a:t>F1 Score:</a:t>
            </a:r>
            <a:r>
              <a:rPr lang="en-US" sz="1800" dirty="0">
                <a:latin typeface="Times New Roman" panose="02020603050405020304" pitchFamily="18" charset="0"/>
                <a:ea typeface="MS Mincho" panose="02020609040205080304" pitchFamily="49" charset="-128"/>
                <a:cs typeface="Times New Roman" panose="02020603050405020304" pitchFamily="18" charset="0"/>
              </a:rPr>
              <a:t> The harmonic mean of precision and recall, providing a balanced measure that accounts for both false positives and false negatives.</a:t>
            </a:r>
            <a:endParaRPr lang="en-IN" sz="1800" dirty="0">
              <a:latin typeface="Times New Roman" panose="02020603050405020304" pitchFamily="18" charset="0"/>
              <a:ea typeface="MS Mincho" panose="02020609040205080304" pitchFamily="49" charset="-128"/>
              <a:cs typeface="Times New Roman" panose="02020603050405020304" pitchFamily="18" charset="0"/>
            </a:endParaRPr>
          </a:p>
          <a:p>
            <a:pPr algn="ctr">
              <a:lnSpc>
                <a:spcPct val="115000"/>
              </a:lnSpc>
              <a:spcAft>
                <a:spcPts val="1000"/>
              </a:spcAft>
              <a:buNone/>
            </a:pPr>
            <a:r>
              <a:rPr lang="en-US" sz="1800" i="1" dirty="0">
                <a:latin typeface="Times New Roman" panose="02020603050405020304" pitchFamily="18" charset="0"/>
                <a:ea typeface="MS Mincho" panose="02020609040205080304" pitchFamily="49" charset="-128"/>
                <a:cs typeface="Times New Roman" panose="02020603050405020304" pitchFamily="18" charset="0"/>
              </a:rPr>
              <a:t>F1 = 2 × (Precision × Recall) / (Precision + Recall)</a:t>
            </a:r>
            <a:endParaRPr lang="en-IN" sz="1800" dirty="0">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1800" dirty="0">
                <a:latin typeface="Times New Roman" panose="02020603050405020304" pitchFamily="18" charset="0"/>
                <a:ea typeface="MS Mincho" panose="02020609040205080304" pitchFamily="49" charset="-128"/>
                <a:cs typeface="Times New Roman" panose="02020603050405020304" pitchFamily="18" charset="0"/>
              </a:rPr>
              <a:t>In predictive maintenance applications, recall is often prioritized for the "Critical" class because failing to detect a critical fault can lead to catastrophic failures and safety hazards. Conversely, precision is important for the "Warning" class to avoid unnecessary maintenance activities that increase operational costs.</a:t>
            </a:r>
            <a:endParaRPr lang="en-IN" sz="1800" dirty="0">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US" sz="1800" dirty="0">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628263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48640"/>
          </a:xfrm>
        </p:spPr>
        <p:txBody>
          <a:bodyPr>
            <a:normAutofit fontScale="90000"/>
          </a:bodyPr>
          <a:lstStyle/>
          <a:p>
            <a:r>
              <a:rPr lang="en-US" dirty="0"/>
              <a:t>Simulation</a:t>
            </a:r>
          </a:p>
        </p:txBody>
      </p:sp>
      <p:sp>
        <p:nvSpPr>
          <p:cNvPr id="4" name="Slide Number Placeholder 3"/>
          <p:cNvSpPr>
            <a:spLocks noGrp="1"/>
          </p:cNvSpPr>
          <p:nvPr>
            <p:ph type="sldNum" sz="quarter" idx="12"/>
          </p:nvPr>
        </p:nvSpPr>
        <p:spPr/>
        <p:txBody>
          <a:bodyPr/>
          <a:lstStyle/>
          <a:p>
            <a:fld id="{E9F1805E-8ECD-4665-ACF6-E4B39ECC81D8}" type="slidenum">
              <a:rPr lang="en-US" smtClean="0"/>
              <a:pPr/>
              <a:t>28</a:t>
            </a:fld>
            <a:endParaRPr lang="en-US"/>
          </a:p>
        </p:txBody>
      </p:sp>
      <p:sp>
        <p:nvSpPr>
          <p:cNvPr id="11" name="Footer Placeholder 2">
            <a:extLst>
              <a:ext uri="{FF2B5EF4-FFF2-40B4-BE49-F238E27FC236}">
                <a16:creationId xmlns="" xmlns:a16="http://schemas.microsoft.com/office/drawing/2014/main" id="{F8731E9B-21A9-6F3F-EBCF-7E563106DD1E}"/>
              </a:ext>
            </a:extLst>
          </p:cNvPr>
          <p:cNvSpPr>
            <a:spLocks noGrp="1"/>
          </p:cNvSpPr>
          <p:nvPr>
            <p:ph type="ftr" sz="quarter" idx="11"/>
          </p:nvPr>
        </p:nvSpPr>
        <p:spPr>
          <a:xfrm>
            <a:off x="2898775" y="6356350"/>
            <a:ext cx="3505200" cy="365125"/>
          </a:xfrm>
        </p:spPr>
        <p:txBody>
          <a:bodyPr/>
          <a:lstStyle/>
          <a:p>
            <a:r>
              <a:rPr lang="en-US" dirty="0"/>
              <a:t>Project Batch Number- 22</a:t>
            </a:r>
          </a:p>
        </p:txBody>
      </p:sp>
      <p:pic>
        <p:nvPicPr>
          <p:cNvPr id="15" name="Content Placeholder 14" descr="A close-up of a graph">
            <a:extLst>
              <a:ext uri="{FF2B5EF4-FFF2-40B4-BE49-F238E27FC236}">
                <a16:creationId xmlns="" xmlns:a16="http://schemas.microsoft.com/office/drawing/2014/main" id="{45921ADE-AA8F-46E0-CB95-3E74E28821B8}"/>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8467" y="1158055"/>
            <a:ext cx="8827254" cy="4809014"/>
          </a:xfr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92E0F3-3AA5-6207-7714-708C343C205E}"/>
              </a:ext>
            </a:extLst>
          </p:cNvPr>
          <p:cNvSpPr>
            <a:spLocks noGrp="1"/>
          </p:cNvSpPr>
          <p:nvPr>
            <p:ph type="title"/>
          </p:nvPr>
        </p:nvSpPr>
        <p:spPr>
          <a:xfrm>
            <a:off x="457200" y="152400"/>
            <a:ext cx="8229600" cy="365760"/>
          </a:xfrm>
        </p:spPr>
        <p:txBody>
          <a:bodyPr>
            <a:normAutofit fontScale="90000"/>
          </a:bodyPr>
          <a:lstStyle/>
          <a:p>
            <a:r>
              <a:rPr lang="en-US" dirty="0"/>
              <a:t>Simulation</a:t>
            </a:r>
          </a:p>
        </p:txBody>
      </p:sp>
      <p:sp>
        <p:nvSpPr>
          <p:cNvPr id="4" name="Slide Number Placeholder 3">
            <a:extLst>
              <a:ext uri="{FF2B5EF4-FFF2-40B4-BE49-F238E27FC236}">
                <a16:creationId xmlns="" xmlns:a16="http://schemas.microsoft.com/office/drawing/2014/main" id="{84C5F6D9-498A-27C4-46E8-19A34F4A5FCB}"/>
              </a:ext>
            </a:extLst>
          </p:cNvPr>
          <p:cNvSpPr>
            <a:spLocks noGrp="1"/>
          </p:cNvSpPr>
          <p:nvPr>
            <p:ph type="sldNum" sz="quarter" idx="12"/>
          </p:nvPr>
        </p:nvSpPr>
        <p:spPr/>
        <p:txBody>
          <a:bodyPr/>
          <a:lstStyle/>
          <a:p>
            <a:fld id="{E9F1805E-8ECD-4665-ACF6-E4B39ECC81D8}" type="slidenum">
              <a:rPr lang="en-US" smtClean="0"/>
              <a:pPr/>
              <a:t>29</a:t>
            </a:fld>
            <a:endParaRPr lang="en-US"/>
          </a:p>
        </p:txBody>
      </p:sp>
      <p:sp>
        <p:nvSpPr>
          <p:cNvPr id="11" name="Footer Placeholder 2">
            <a:extLst>
              <a:ext uri="{FF2B5EF4-FFF2-40B4-BE49-F238E27FC236}">
                <a16:creationId xmlns="" xmlns:a16="http://schemas.microsoft.com/office/drawing/2014/main" id="{22CE9B73-E141-1DEE-3EDD-B811EA613592}"/>
              </a:ext>
            </a:extLst>
          </p:cNvPr>
          <p:cNvSpPr>
            <a:spLocks noGrp="1"/>
          </p:cNvSpPr>
          <p:nvPr>
            <p:ph type="ftr" sz="quarter" idx="11"/>
          </p:nvPr>
        </p:nvSpPr>
        <p:spPr>
          <a:xfrm>
            <a:off x="2898775" y="6356350"/>
            <a:ext cx="3505200" cy="365125"/>
          </a:xfrm>
        </p:spPr>
        <p:txBody>
          <a:bodyPr/>
          <a:lstStyle/>
          <a:p>
            <a:r>
              <a:rPr lang="en-US" dirty="0"/>
              <a:t>Project Batch Number- 22</a:t>
            </a:r>
          </a:p>
        </p:txBody>
      </p:sp>
      <p:pic>
        <p:nvPicPr>
          <p:cNvPr id="8" name="Content Placeholder 7" descr="A diagram of a graph&#10;&#10;AI-generated content may be incorrect.">
            <a:extLst>
              <a:ext uri="{FF2B5EF4-FFF2-40B4-BE49-F238E27FC236}">
                <a16:creationId xmlns="" xmlns:a16="http://schemas.microsoft.com/office/drawing/2014/main" id="{790862F3-9BD3-40A0-F254-63BF58F02BCA}"/>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04800" y="381001"/>
            <a:ext cx="8229600" cy="3505200"/>
          </a:xfrm>
        </p:spPr>
      </p:pic>
      <p:pic>
        <p:nvPicPr>
          <p:cNvPr id="12" name="Picture 11" descr="A graph showing a number of numbers&#10;&#10;AI-generated content may be incorrect.">
            <a:extLst>
              <a:ext uri="{FF2B5EF4-FFF2-40B4-BE49-F238E27FC236}">
                <a16:creationId xmlns="" xmlns:a16="http://schemas.microsoft.com/office/drawing/2014/main" id="{CD66EA2F-1518-12CC-259F-3C1ACFFA38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86201"/>
            <a:ext cx="9144000" cy="2185987"/>
          </a:xfrm>
          <a:prstGeom prst="rect">
            <a:avLst/>
          </a:prstGeom>
        </p:spPr>
      </p:pic>
    </p:spTree>
    <p:extLst>
      <p:ext uri="{BB962C8B-B14F-4D97-AF65-F5344CB8AC3E}">
        <p14:creationId xmlns:p14="http://schemas.microsoft.com/office/powerpoint/2010/main" val="2824542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968CF81-A4AE-7FB5-9D67-3EEDC0F8023F}"/>
              </a:ext>
            </a:extLst>
          </p:cNvPr>
          <p:cNvSpPr>
            <a:spLocks noGrp="1"/>
          </p:cNvSpPr>
          <p:nvPr>
            <p:ph type="title"/>
          </p:nvPr>
        </p:nvSpPr>
        <p:spPr/>
        <p:txBody>
          <a:bodyPr/>
          <a:lstStyle/>
          <a:p>
            <a:r>
              <a:rPr lang="en-US" dirty="0"/>
              <a:t>Simulation</a:t>
            </a:r>
          </a:p>
        </p:txBody>
      </p:sp>
      <p:sp>
        <p:nvSpPr>
          <p:cNvPr id="8" name="Footer Placeholder 2">
            <a:extLst>
              <a:ext uri="{FF2B5EF4-FFF2-40B4-BE49-F238E27FC236}">
                <a16:creationId xmlns="" xmlns:a16="http://schemas.microsoft.com/office/drawing/2014/main" id="{BEE2A3B3-EA38-BB70-50BE-4A3A391A1E3A}"/>
              </a:ext>
            </a:extLst>
          </p:cNvPr>
          <p:cNvSpPr>
            <a:spLocks noGrp="1"/>
          </p:cNvSpPr>
          <p:nvPr>
            <p:ph type="ftr" sz="quarter" idx="11"/>
          </p:nvPr>
        </p:nvSpPr>
        <p:spPr/>
        <p:txBody>
          <a:bodyPr/>
          <a:lstStyle/>
          <a:p>
            <a:r>
              <a:rPr lang="en-US" dirty="0"/>
              <a:t>Project Batch Number- 22</a:t>
            </a:r>
          </a:p>
        </p:txBody>
      </p:sp>
      <p:sp>
        <p:nvSpPr>
          <p:cNvPr id="4" name="Slide Number Placeholder 3">
            <a:extLst>
              <a:ext uri="{FF2B5EF4-FFF2-40B4-BE49-F238E27FC236}">
                <a16:creationId xmlns="" xmlns:a16="http://schemas.microsoft.com/office/drawing/2014/main" id="{331AF3D6-6081-9B2D-A421-4BE6834FA5DC}"/>
              </a:ext>
            </a:extLst>
          </p:cNvPr>
          <p:cNvSpPr>
            <a:spLocks noGrp="1"/>
          </p:cNvSpPr>
          <p:nvPr>
            <p:ph type="sldNum" sz="quarter" idx="12"/>
          </p:nvPr>
        </p:nvSpPr>
        <p:spPr/>
        <p:txBody>
          <a:bodyPr/>
          <a:lstStyle/>
          <a:p>
            <a:fld id="{E9F1805E-8ECD-4665-ACF6-E4B39ECC81D8}" type="slidenum">
              <a:rPr lang="en-US" smtClean="0"/>
              <a:pPr/>
              <a:t>30</a:t>
            </a:fld>
            <a:endParaRPr lang="en-US"/>
          </a:p>
        </p:txBody>
      </p:sp>
      <p:pic>
        <p:nvPicPr>
          <p:cNvPr id="15" name="Content Placeholder 14" descr="A blue and white squares&#10;&#10;AI-generated content may be incorrect.">
            <a:extLst>
              <a:ext uri="{FF2B5EF4-FFF2-40B4-BE49-F238E27FC236}">
                <a16:creationId xmlns="" xmlns:a16="http://schemas.microsoft.com/office/drawing/2014/main" id="{1C35E549-EC1C-7260-FDF6-3F502DDBB20D}"/>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52400" y="1143000"/>
            <a:ext cx="4651375" cy="5033231"/>
          </a:xfrm>
        </p:spPr>
      </p:pic>
      <p:pic>
        <p:nvPicPr>
          <p:cNvPr id="17" name="Content Placeholder 16" descr="A graph showing a line and a point&#10;&#10;AI-generated content may be incorrect.">
            <a:extLst>
              <a:ext uri="{FF2B5EF4-FFF2-40B4-BE49-F238E27FC236}">
                <a16:creationId xmlns="" xmlns:a16="http://schemas.microsoft.com/office/drawing/2014/main" id="{7FF0EFF7-829A-1028-ED97-7C30E541E529}"/>
              </a:ext>
            </a:extLst>
          </p:cNvPr>
          <p:cNvPicPr>
            <a:picLocks noGrp="1" noChangeAspect="1"/>
          </p:cNvPicPr>
          <p:nvPr>
            <p:ph sz="quarter" idx="2"/>
          </p:nvPr>
        </p:nvPicPr>
        <p:blipFill>
          <a:blip r:embed="rId3">
            <a:extLst>
              <a:ext uri="{28A0092B-C50C-407E-A947-70E740481C1C}">
                <a14:useLocalDpi xmlns:a14="http://schemas.microsoft.com/office/drawing/2010/main" val="0"/>
              </a:ext>
            </a:extLst>
          </a:blip>
          <a:stretch>
            <a:fillRect/>
          </a:stretch>
        </p:blipFill>
        <p:spPr>
          <a:xfrm>
            <a:off x="4645025" y="1188625"/>
            <a:ext cx="4498975" cy="4987606"/>
          </a:xfrm>
        </p:spPr>
      </p:pic>
    </p:spTree>
    <p:extLst>
      <p:ext uri="{BB962C8B-B14F-4D97-AF65-F5344CB8AC3E}">
        <p14:creationId xmlns:p14="http://schemas.microsoft.com/office/powerpoint/2010/main" val="900015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a:t>
            </a:r>
          </a:p>
        </p:txBody>
      </p:sp>
      <p:sp>
        <p:nvSpPr>
          <p:cNvPr id="4" name="Slide Number Placeholder 3"/>
          <p:cNvSpPr>
            <a:spLocks noGrp="1"/>
          </p:cNvSpPr>
          <p:nvPr>
            <p:ph type="sldNum" sz="quarter" idx="12"/>
          </p:nvPr>
        </p:nvSpPr>
        <p:spPr/>
        <p:txBody>
          <a:bodyPr/>
          <a:lstStyle/>
          <a:p>
            <a:fld id="{E9F1805E-8ECD-4665-ACF6-E4B39ECC81D8}" type="slidenum">
              <a:rPr lang="en-US" smtClean="0"/>
              <a:pPr/>
              <a:t>31</a:t>
            </a:fld>
            <a:endParaRPr lang="en-US"/>
          </a:p>
        </p:txBody>
      </p:sp>
      <p:pic>
        <p:nvPicPr>
          <p:cNvPr id="3" name="Content Placeholder 2"/>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028700" y="1143000"/>
            <a:ext cx="6629400" cy="4937125"/>
          </a:xfrm>
        </p:spPr>
      </p:pic>
      <p:sp>
        <p:nvSpPr>
          <p:cNvPr id="7" name="Footer Placeholder 2">
            <a:extLst>
              <a:ext uri="{FF2B5EF4-FFF2-40B4-BE49-F238E27FC236}">
                <a16:creationId xmlns="" xmlns:a16="http://schemas.microsoft.com/office/drawing/2014/main" id="{10625E7C-8F8C-3E50-4DAE-FE306DCB1690}"/>
              </a:ext>
            </a:extLst>
          </p:cNvPr>
          <p:cNvSpPr>
            <a:spLocks noGrp="1"/>
          </p:cNvSpPr>
          <p:nvPr>
            <p:ph type="ftr" sz="quarter" idx="11"/>
          </p:nvPr>
        </p:nvSpPr>
        <p:spPr>
          <a:xfrm>
            <a:off x="4343400" y="6383327"/>
            <a:ext cx="3505200" cy="365125"/>
          </a:xfrm>
        </p:spPr>
        <p:txBody>
          <a:bodyPr/>
          <a:lstStyle/>
          <a:p>
            <a:r>
              <a:rPr lang="en-US" dirty="0"/>
              <a:t>Project Batch Number- 22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Conclusions</a:t>
            </a:r>
          </a:p>
        </p:txBody>
      </p:sp>
      <p:sp>
        <p:nvSpPr>
          <p:cNvPr id="3" name="Footer Placeholder 2"/>
          <p:cNvSpPr>
            <a:spLocks noGrp="1"/>
          </p:cNvSpPr>
          <p:nvPr>
            <p:ph type="ftr" sz="quarter" idx="11"/>
          </p:nvPr>
        </p:nvSpPr>
        <p:spPr>
          <a:xfrm>
            <a:off x="2898648" y="6356350"/>
            <a:ext cx="4721352" cy="365760"/>
          </a:xfrm>
        </p:spPr>
        <p:txBody>
          <a:bodyPr/>
          <a:lstStyle/>
          <a:p>
            <a:r>
              <a:rPr lang="en-US" dirty="0"/>
              <a:t>Project Batch Number- 22</a:t>
            </a:r>
          </a:p>
        </p:txBody>
      </p:sp>
      <p:sp>
        <p:nvSpPr>
          <p:cNvPr id="4" name="Slide Number Placeholder 3"/>
          <p:cNvSpPr>
            <a:spLocks noGrp="1"/>
          </p:cNvSpPr>
          <p:nvPr>
            <p:ph type="sldNum" sz="quarter" idx="12"/>
          </p:nvPr>
        </p:nvSpPr>
        <p:spPr/>
        <p:txBody>
          <a:bodyPr/>
          <a:lstStyle/>
          <a:p>
            <a:fld id="{E9F1805E-8ECD-4665-ACF6-E4B39ECC81D8}" type="slidenum">
              <a:rPr lang="en-US" smtClean="0"/>
              <a:pPr/>
              <a:t>32</a:t>
            </a:fld>
            <a:endParaRPr lang="en-US"/>
          </a:p>
        </p:txBody>
      </p:sp>
      <p:sp>
        <p:nvSpPr>
          <p:cNvPr id="5" name="Content Placeholder 4"/>
          <p:cNvSpPr>
            <a:spLocks noGrp="1"/>
          </p:cNvSpPr>
          <p:nvPr>
            <p:ph sz="quarter" idx="1"/>
          </p:nvPr>
        </p:nvSpPr>
        <p:spPr/>
        <p:txBody>
          <a:bodyPr>
            <a:normAutofit/>
          </a:bodyPr>
          <a:lstStyle/>
          <a:p>
            <a:pPr lvl="0"/>
            <a:r>
              <a:rPr lang="en-US" sz="1800" dirty="0">
                <a:latin typeface="Times New Roman" panose="02020603050405020304" pitchFamily="18" charset="0"/>
                <a:cs typeface="Times New Roman" panose="02020603050405020304" pitchFamily="18" charset="0"/>
              </a:rPr>
              <a:t>Predictive maintenance framework can detect motor faults before downtime.</a:t>
            </a:r>
          </a:p>
          <a:p>
            <a:pPr lvl="0"/>
            <a:r>
              <a:rPr lang="en-US" sz="1800" dirty="0">
                <a:latin typeface="Times New Roman" panose="02020603050405020304" pitchFamily="18" charset="0"/>
                <a:cs typeface="Times New Roman" panose="02020603050405020304" pitchFamily="18" charset="0"/>
              </a:rPr>
              <a:t>Random Forest model achieves high accuracy in classifying motor conditions.</a:t>
            </a:r>
          </a:p>
          <a:p>
            <a:pPr lvl="0"/>
            <a:r>
              <a:rPr lang="en-US" sz="1800" dirty="0">
                <a:latin typeface="Times New Roman" panose="02020603050405020304" pitchFamily="18" charset="0"/>
                <a:cs typeface="Times New Roman" panose="02020603050405020304" pitchFamily="18" charset="0"/>
              </a:rPr>
              <a:t>Vibration, current and temperature features are key fault indicators.</a:t>
            </a:r>
          </a:p>
          <a:p>
            <a:pPr lvl="0"/>
            <a:r>
              <a:rPr lang="en-US" sz="1800" dirty="0">
                <a:latin typeface="Times New Roman" panose="02020603050405020304" pitchFamily="18" charset="0"/>
                <a:cs typeface="Times New Roman" panose="02020603050405020304" pitchFamily="18" charset="0"/>
              </a:rPr>
              <a:t>FFT and MCSA effectively identify rotor and stator faults.</a:t>
            </a:r>
          </a:p>
          <a:p>
            <a:pPr lvl="0"/>
            <a:r>
              <a:rPr lang="en-US" sz="1800" dirty="0">
                <a:latin typeface="Times New Roman" panose="02020603050405020304" pitchFamily="18" charset="0"/>
                <a:cs typeface="Times New Roman" panose="02020603050405020304" pitchFamily="18" charset="0"/>
              </a:rPr>
              <a:t>Vibration analysis detects bearing faults through characteristic frequencies.</a:t>
            </a:r>
          </a:p>
          <a:p>
            <a:pPr lvl="0"/>
            <a:r>
              <a:rPr lang="en-US" sz="1800" dirty="0">
                <a:latin typeface="Times New Roman" panose="02020603050405020304" pitchFamily="18" charset="0"/>
                <a:cs typeface="Times New Roman" panose="02020603050405020304" pitchFamily="18" charset="0"/>
              </a:rPr>
              <a:t>Cloud-based signal transmission enables remote motor control readiness.</a:t>
            </a:r>
          </a:p>
          <a:p>
            <a:pPr lvl="0"/>
            <a:r>
              <a:rPr lang="en-US" sz="1800" dirty="0">
                <a:latin typeface="Times New Roman" panose="02020603050405020304" pitchFamily="18" charset="0"/>
                <a:cs typeface="Times New Roman" panose="02020603050405020304" pitchFamily="18" charset="0"/>
              </a:rPr>
              <a:t>System is scalable and adaptable for future real-time industrial deployment.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Publications</a:t>
            </a:r>
          </a:p>
        </p:txBody>
      </p:sp>
      <p:sp>
        <p:nvSpPr>
          <p:cNvPr id="3" name="Footer Placeholder 2"/>
          <p:cNvSpPr>
            <a:spLocks noGrp="1"/>
          </p:cNvSpPr>
          <p:nvPr>
            <p:ph type="ftr" sz="quarter" idx="11"/>
          </p:nvPr>
        </p:nvSpPr>
        <p:spPr/>
        <p:txBody>
          <a:bodyPr/>
          <a:lstStyle/>
          <a:p>
            <a:r>
              <a:rPr lang="en-US" dirty="0"/>
              <a:t>Project Batch Number- 22</a:t>
            </a:r>
          </a:p>
        </p:txBody>
      </p:sp>
      <p:sp>
        <p:nvSpPr>
          <p:cNvPr id="4" name="Slide Number Placeholder 3"/>
          <p:cNvSpPr>
            <a:spLocks noGrp="1"/>
          </p:cNvSpPr>
          <p:nvPr>
            <p:ph type="sldNum" sz="quarter" idx="12"/>
          </p:nvPr>
        </p:nvSpPr>
        <p:spPr/>
        <p:txBody>
          <a:bodyPr/>
          <a:lstStyle/>
          <a:p>
            <a:fld id="{E9F1805E-8ECD-4665-ACF6-E4B39ECC81D8}" type="slidenum">
              <a:rPr lang="en-US" smtClean="0"/>
              <a:pPr/>
              <a:t>33</a:t>
            </a:fld>
            <a:endParaRPr lang="en-US"/>
          </a:p>
        </p:txBody>
      </p:sp>
      <p:sp>
        <p:nvSpPr>
          <p:cNvPr id="5" name="Content Placeholder 4"/>
          <p:cNvSpPr>
            <a:spLocks noGrp="1"/>
          </p:cNvSpPr>
          <p:nvPr>
            <p:ph sz="quarter" idx="1"/>
          </p:nvPr>
        </p:nvSpPr>
        <p:spPr/>
        <p:txBody>
          <a:bodyPr>
            <a:normAutofit/>
          </a:bodyPr>
          <a:lstStyle/>
          <a:p>
            <a:pPr lvl="0"/>
            <a:r>
              <a:rPr lang="en-US" sz="1800" dirty="0">
                <a:latin typeface="Times New Roman" panose="02020603050405020304" pitchFamily="18" charset="0"/>
                <a:cs typeface="Times New Roman" panose="02020603050405020304" pitchFamily="18" charset="0"/>
              </a:rPr>
              <a:t>Patent application has been submitted to Khurana &amp; Khurana IP Attorneys for novelty verification.</a:t>
            </a:r>
          </a:p>
          <a:p>
            <a:r>
              <a:rPr lang="en-US" sz="1800" dirty="0"/>
              <a:t>Nakul S, </a:t>
            </a:r>
            <a:r>
              <a:rPr lang="en-US" sz="1800" dirty="0" err="1"/>
              <a:t>Pradeesh</a:t>
            </a:r>
            <a:r>
              <a:rPr lang="en-US" sz="1800" dirty="0"/>
              <a:t> R, </a:t>
            </a:r>
            <a:r>
              <a:rPr lang="en-US" sz="1800" dirty="0" err="1"/>
              <a:t>Jamuna</a:t>
            </a:r>
            <a:r>
              <a:rPr lang="en-US" sz="1800" dirty="0"/>
              <a:t> </a:t>
            </a:r>
            <a:r>
              <a:rPr lang="en-US" sz="1800" dirty="0" err="1"/>
              <a:t>Kamaraj</a:t>
            </a:r>
            <a:r>
              <a:rPr lang="en-US" sz="1800" dirty="0"/>
              <a:t>, Marconi </a:t>
            </a:r>
            <a:r>
              <a:rPr lang="en-US" sz="1800" dirty="0" err="1"/>
              <a:t>Januário</a:t>
            </a:r>
            <a:r>
              <a:rPr lang="en-US" sz="1800" dirty="0"/>
              <a:t>, “Application of the </a:t>
            </a:r>
            <a:r>
              <a:rPr lang="en-US" sz="1800" dirty="0" err="1"/>
              <a:t>Fiirebase</a:t>
            </a:r>
            <a:r>
              <a:rPr lang="en-US" sz="1800" dirty="0"/>
              <a:t> Platform for Power Quality Data Management in an IOT System”, in </a:t>
            </a:r>
            <a:r>
              <a:rPr lang="en-US" sz="1800" i="1" dirty="0"/>
              <a:t>Seminar on Scientific Initiation, Extension, and Research, XVIIISIEPE</a:t>
            </a:r>
            <a:r>
              <a:rPr lang="en-US" sz="1800" dirty="0"/>
              <a:t>, 1 Page, Oct 2025, </a:t>
            </a:r>
            <a:r>
              <a:rPr lang="en-US" sz="1800" dirty="0" err="1"/>
              <a:t>Jocaba</a:t>
            </a:r>
            <a:r>
              <a:rPr lang="en-US" sz="1800" dirty="0"/>
              <a:t>, Brazil.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Footer Placeholder 2"/>
          <p:cNvSpPr>
            <a:spLocks noGrp="1"/>
          </p:cNvSpPr>
          <p:nvPr>
            <p:ph type="ftr" sz="quarter" idx="11"/>
          </p:nvPr>
        </p:nvSpPr>
        <p:spPr/>
        <p:txBody>
          <a:bodyPr/>
          <a:lstStyle/>
          <a:p>
            <a:r>
              <a:rPr lang="en-US" dirty="0"/>
              <a:t>Project Batch Number - 22</a:t>
            </a:r>
          </a:p>
        </p:txBody>
      </p:sp>
      <p:sp>
        <p:nvSpPr>
          <p:cNvPr id="4" name="Slide Number Placeholder 3"/>
          <p:cNvSpPr>
            <a:spLocks noGrp="1"/>
          </p:cNvSpPr>
          <p:nvPr>
            <p:ph type="sldNum" sz="quarter" idx="12"/>
          </p:nvPr>
        </p:nvSpPr>
        <p:spPr/>
        <p:txBody>
          <a:bodyPr/>
          <a:lstStyle/>
          <a:p>
            <a:fld id="{E9F1805E-8ECD-4665-ACF6-E4B39ECC81D8}" type="slidenum">
              <a:rPr lang="en-US" smtClean="0"/>
              <a:pPr/>
              <a:t>34</a:t>
            </a:fld>
            <a:endParaRPr lang="en-US"/>
          </a:p>
        </p:txBody>
      </p:sp>
      <p:sp>
        <p:nvSpPr>
          <p:cNvPr id="5" name="Content Placeholder 4"/>
          <p:cNvSpPr>
            <a:spLocks noGrp="1"/>
          </p:cNvSpPr>
          <p:nvPr>
            <p:ph sz="quarter" idx="1"/>
          </p:nvPr>
        </p:nvSpPr>
        <p:spPr/>
        <p:txBody>
          <a:bodyPr>
            <a:normAutofit/>
          </a:bodyPr>
          <a:lstStyle/>
          <a:p>
            <a:r>
              <a:rPr lang="en-US" sz="1800" dirty="0">
                <a:latin typeface="Times New Roman" panose="02020603050405020304" pitchFamily="18" charset="0"/>
                <a:cs typeface="Times New Roman" panose="02020603050405020304" pitchFamily="18" charset="0"/>
              </a:rPr>
              <a:t>[1] MathWorks (2024). "Predictive Maintenance Toolbox - MATLAB." MathWorks Documentation.</a:t>
            </a:r>
          </a:p>
          <a:p>
            <a:r>
              <a:rPr lang="en-US" sz="1800" dirty="0">
                <a:latin typeface="Times New Roman" panose="02020603050405020304" pitchFamily="18" charset="0"/>
                <a:cs typeface="Times New Roman" panose="02020603050405020304" pitchFamily="18" charset="0"/>
              </a:rPr>
              <a:t>[2] Graves, R. (2021). "Predictive Maintenance with MATLAB: A Data-Based Approach." MathWorks Webinar Series.</a:t>
            </a:r>
          </a:p>
          <a:p>
            <a:r>
              <a:rPr lang="en-US" sz="1800" dirty="0">
                <a:latin typeface="Times New Roman" panose="02020603050405020304" pitchFamily="18" charset="0"/>
                <a:cs typeface="Times New Roman" panose="02020603050405020304" pitchFamily="18" charset="0"/>
              </a:rPr>
              <a:t>[3] Wu, M. et al. (2024). "An intelligent predictive maintenance system based on random forest for addressing industrial conveyor belt challenges." Frontiers in Mechanical Engineering, Vol. 10.</a:t>
            </a:r>
          </a:p>
          <a:p>
            <a:r>
              <a:rPr lang="en-US" sz="1800" dirty="0">
                <a:latin typeface="Times New Roman" panose="02020603050405020304" pitchFamily="18" charset="0"/>
                <a:cs typeface="Times New Roman" panose="02020603050405020304" pitchFamily="18" charset="0"/>
              </a:rPr>
              <a:t>[4] Ali, U. (2009). "Towards Fault Diagnosis in Induction Motor using Fractional Fourier Transform." </a:t>
            </a:r>
            <a:r>
              <a:rPr lang="en-US" sz="1800" dirty="0" err="1">
                <a:latin typeface="Times New Roman" panose="02020603050405020304" pitchFamily="18" charset="0"/>
                <a:cs typeface="Times New Roman" panose="02020603050405020304" pitchFamily="18" charset="0"/>
              </a:rPr>
              <a:t>arXiv</a:t>
            </a:r>
            <a:r>
              <a:rPr lang="en-US" sz="1800" dirty="0">
                <a:latin typeface="Times New Roman" panose="02020603050405020304" pitchFamily="18" charset="0"/>
                <a:cs typeface="Times New Roman" panose="02020603050405020304" pitchFamily="18" charset="0"/>
              </a:rPr>
              <a:t> preprint.</a:t>
            </a:r>
          </a:p>
          <a:p>
            <a:r>
              <a:rPr lang="en-US" sz="1800" dirty="0">
                <a:latin typeface="Times New Roman" panose="02020603050405020304" pitchFamily="18" charset="0"/>
                <a:cs typeface="Times New Roman" panose="02020603050405020304" pitchFamily="18" charset="0"/>
              </a:rPr>
              <a:t>[5] Allal, A. et al. (2022). "Diagnosis of induction motor faults using the motor current signature analysis and fast Fourier transform." International Journal of Electrical Power &amp; Energy Systems, Vol. 142.</a:t>
            </a:r>
          </a:p>
          <a:p>
            <a:r>
              <a:rPr lang="en-US" sz="1800" dirty="0">
                <a:latin typeface="Times New Roman" panose="02020603050405020304" pitchFamily="18" charset="0"/>
                <a:cs typeface="Times New Roman" panose="02020603050405020304" pitchFamily="18" charset="0"/>
              </a:rPr>
              <a:t>[6] Wang, Z. et al. (2011). "Online fault detection of induction motors using frequency domain independent component analysis." IEEE Transactions on Industrial Electronics.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a:t>Thank You</a:t>
            </a:r>
          </a:p>
        </p:txBody>
      </p:sp>
      <p:sp>
        <p:nvSpPr>
          <p:cNvPr id="7" name="Subtitle 6"/>
          <p:cNvSpPr>
            <a:spLocks noGrp="1"/>
          </p:cNvSpPr>
          <p:nvPr>
            <p:ph type="subTitle" idx="1"/>
          </p:nvPr>
        </p:nvSpPr>
        <p:spPr/>
        <p:txBody>
          <a:bodyPr/>
          <a:lstStyle/>
          <a:p>
            <a:r>
              <a:rPr lang="en-US" dirty="0" err="1" smtClean="0"/>
              <a:t>Kartheesan</a:t>
            </a:r>
            <a:r>
              <a:rPr lang="en-US" dirty="0" smtClean="0"/>
              <a:t> K, Nakul S, </a:t>
            </a:r>
            <a:r>
              <a:rPr lang="en-US" dirty="0" err="1" smtClean="0"/>
              <a:t>Pradeesh</a:t>
            </a:r>
            <a:r>
              <a:rPr lang="en-US" dirty="0" smtClean="0"/>
              <a:t> R</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521</TotalTime>
  <Words>2449</Words>
  <Application>Microsoft Office PowerPoint</Application>
  <PresentationFormat>On-screen Show (4:3)</PresentationFormat>
  <Paragraphs>278</Paragraphs>
  <Slides>35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Arial</vt:lpstr>
      <vt:lpstr>Bookman Old Style</vt:lpstr>
      <vt:lpstr>Calibri</vt:lpstr>
      <vt:lpstr>Gill Sans MT</vt:lpstr>
      <vt:lpstr>MS Mincho</vt:lpstr>
      <vt:lpstr>Symbol</vt:lpstr>
      <vt:lpstr>Times New Roman</vt:lpstr>
      <vt:lpstr>Wingdings</vt:lpstr>
      <vt:lpstr>Wingdings 3</vt:lpstr>
      <vt:lpstr>Origin</vt:lpstr>
      <vt:lpstr>IoT Based Infrastructure for Remote Sensing and Motor Automation</vt:lpstr>
      <vt:lpstr>Table of Contents</vt:lpstr>
      <vt:lpstr>Objectives</vt:lpstr>
      <vt:lpstr>Project Overview</vt:lpstr>
      <vt:lpstr>Project Overview</vt:lpstr>
      <vt:lpstr>Circuit Diagram</vt:lpstr>
      <vt:lpstr>Circuit Diagram</vt:lpstr>
      <vt:lpstr>Circuit Diagram</vt:lpstr>
      <vt:lpstr>Block Diagram</vt:lpstr>
      <vt:lpstr>Block diagram</vt:lpstr>
      <vt:lpstr>Block Diagram</vt:lpstr>
      <vt:lpstr>Design Specifications</vt:lpstr>
      <vt:lpstr>Analysis</vt:lpstr>
      <vt:lpstr>Analysis</vt:lpstr>
      <vt:lpstr>Analysis</vt:lpstr>
      <vt:lpstr>Analysis</vt:lpstr>
      <vt:lpstr>Analysis</vt:lpstr>
      <vt:lpstr>Analysis</vt:lpstr>
      <vt:lpstr>Analysis</vt:lpstr>
      <vt:lpstr>Analysis</vt:lpstr>
      <vt:lpstr>Analysis</vt:lpstr>
      <vt:lpstr>Analysis</vt:lpstr>
      <vt:lpstr>Analysis</vt:lpstr>
      <vt:lpstr>Analysis</vt:lpstr>
      <vt:lpstr>Analysis</vt:lpstr>
      <vt:lpstr>Analysis</vt:lpstr>
      <vt:lpstr>Analysis</vt:lpstr>
      <vt:lpstr>Simulation</vt:lpstr>
      <vt:lpstr>Simulation</vt:lpstr>
      <vt:lpstr>Simulation</vt:lpstr>
      <vt:lpstr>Hardware</vt:lpstr>
      <vt:lpstr>Conclusions</vt:lpstr>
      <vt:lpstr>Publications</vt:lpstr>
      <vt:lpstr>References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VITCC</dc:creator>
  <cp:lastModifiedBy>Microsoft account</cp:lastModifiedBy>
  <cp:revision>33</cp:revision>
  <dcterms:created xsi:type="dcterms:W3CDTF">2016-01-12T10:20:22Z</dcterms:created>
  <dcterms:modified xsi:type="dcterms:W3CDTF">2025-10-28T18:22:28Z</dcterms:modified>
</cp:coreProperties>
</file>